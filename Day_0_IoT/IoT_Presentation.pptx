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C8359-C298-E8E2-234C-1FE37F6340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AAE946-08C9-4190-4DAF-B342620597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968585-72CE-AA8E-0306-4403CF4E3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44022-4531-42FE-8696-636CA0035B8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E001F5-D0A0-5ECC-C30A-475CDB016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D1ED92-395B-462E-AF7B-42AC15864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181FA-F3A1-4BEB-8660-F503263909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8111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59D9F-3F68-592C-A89A-DEEBDC589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DE9CB6-ABA5-8A36-9022-4757775221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54AF5E-EC4F-604D-E863-0F05F26C3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44022-4531-42FE-8696-636CA0035B8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13C2B5-7838-7DB0-C391-5AA31144B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85F2A1-B3C0-8297-F2A1-C1C1E468B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181FA-F3A1-4BEB-8660-F503263909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1698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43C3A-8C49-7DA8-E3A6-760F9B9E4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1B5BE4-3D89-D151-2384-0898ECD152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C1C245-B77D-9634-49CB-6C4F8756F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44022-4531-42FE-8696-636CA0035B8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202F9A-5FA6-15F3-CE23-6701370C7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4A1B36-80CE-AC2C-DF99-2012DB2EA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181FA-F3A1-4BEB-8660-F503263909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064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1650E-A8F6-6A2B-BD1E-64D869E9A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A815B0-2291-ED80-8DBF-BEE13110CF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24C4AF-0B85-F7EF-46E4-E79158E195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487A90-66A4-65DE-B74D-82CBB6DE7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44022-4531-42FE-8696-636CA0035B8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8F8F79-EBF0-6C17-A780-9825D12F4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A7C62B-397B-6525-8A65-48BC74438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181FA-F3A1-4BEB-8660-F503263909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11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B93EF-5A57-2399-FB63-065F052B2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CF2740-85D0-8AEE-158C-726E0F24B2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1F5C45-BE59-12A7-5EAA-374C0A3DD3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6825FA-F302-EC70-3C03-B272CCD170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520E61-7930-1A4A-5420-09F352E1EC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1A155C-A269-C786-DABC-DF647D6A6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44022-4531-42FE-8696-636CA0035B8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319ECB-39FE-5EF1-C47B-43DBB73E6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27F6A5-2FF2-D1FA-CD44-8371B5F30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181FA-F3A1-4BEB-8660-F503263909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9324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2142C-A005-2617-50E4-E785CD63C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17C929-03FA-1BCD-2EBF-B77C96376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44022-4531-42FE-8696-636CA0035B8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1C942C-EDCF-6408-699C-48A42ADC9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76F1F5-70F1-73AF-EEA4-EEA11BD4C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181FA-F3A1-4BEB-8660-F503263909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3867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494C52-717F-72CB-FC04-00F5E4DF1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44022-4531-42FE-8696-636CA0035B8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BF92A9-6995-C199-5182-26EC51146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F12553-9254-6F6B-745D-FEA0C1E92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181FA-F3A1-4BEB-8660-F503263909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767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44738-A564-B64A-BFC6-220940F6B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E7317B-5919-B6D2-74CA-8AF554909F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A70A4A-5218-45EF-9A2A-D18E987358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A320C8-32DE-C2A4-8D80-CFEAA3D64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44022-4531-42FE-8696-636CA0035B8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727698-3532-FC44-C965-C27B37C44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F616A3-845E-AC9B-7038-504D62B9B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181FA-F3A1-4BEB-8660-F503263909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90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8280A-8EED-8C5E-2E25-8E04D5109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4F45B3-EB29-8D97-6395-13AF87E135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91DFF8-D1A1-8462-0EC6-94DCE28F11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2BCA97-B7A9-8A48-6250-1AFF2D681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44022-4531-42FE-8696-636CA0035B8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58D802-1A4F-0F02-02FB-EC5BC6D9F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AF448E-2955-3F9C-0357-128071C3F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181FA-F3A1-4BEB-8660-F503263909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800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5EF6A-5196-213D-0CFE-6A46E47BC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761CE0-CD2B-699A-191E-C7A7BA0FAA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F6746A-64A5-9221-4824-D2C8F006A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44022-4531-42FE-8696-636CA0035B8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D17D25-83F0-4587-B8DA-49D2E7916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413EA3-B163-449E-D0A9-27374C5BD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181FA-F3A1-4BEB-8660-F503263909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0982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05A514-1505-3387-8917-EBD4111714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0EF2DE-92FF-C014-9FED-43C2A8B77F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04E709-3C51-340E-17EF-33C6E2AEC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44022-4531-42FE-8696-636CA0035B8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4E4B1F-8481-D389-03CA-83E067067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A08F87-28CD-64DE-D9DB-AAA13F3D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181FA-F3A1-4BEB-8660-F503263909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108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5B75DE-0C04-AB57-976E-1BE251979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78F8BF-447C-3147-54E2-DE0E76A20C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43BC25-D4BA-EA75-BBE2-90E208EC30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844022-4531-42FE-8696-636CA0035B8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AAB4BB-8998-63B4-967A-C7CCDAB471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6756D3-0340-5E05-29EC-2E06CB7BA8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1181FA-F3A1-4BEB-8660-F503263909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64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45F61-EC19-B38E-5501-AD51A2E1828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B6C376-AC54-D4D1-10B0-EF7C8077DFB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4309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A3BDD-B535-C17C-166A-00364E022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Internet of Things (IoT)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769074-2AD7-0DE4-8F61-CEE688725C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How Smart Devices Are Changing the World</a:t>
            </a:r>
          </a:p>
          <a:p>
            <a:r>
              <a:rPr lang="en-US" b="1" dirty="0"/>
              <a:t>Subtitle:</a:t>
            </a:r>
            <a:br>
              <a:rPr lang="en-US" dirty="0"/>
            </a:br>
            <a:r>
              <a:rPr lang="en-US" dirty="0"/>
              <a:t>From Smart Fridges to Self-Driving Cars</a:t>
            </a:r>
          </a:p>
          <a:p>
            <a:r>
              <a:rPr lang="en-US" b="1" dirty="0"/>
              <a:t>Teacher notes:</a:t>
            </a:r>
            <a:br>
              <a:rPr lang="en-US" dirty="0"/>
            </a:br>
            <a:r>
              <a:rPr lang="en-US" dirty="0"/>
              <a:t>Ask:</a:t>
            </a:r>
          </a:p>
          <a:p>
            <a:r>
              <a:rPr lang="en-US" dirty="0"/>
              <a:t>“How many smart devices do you think you used before coming to class today?”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1487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06593-C2A3-CDDF-27EB-286DE4030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Smart Devices Do You Use?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0CC93D-30D1-7FC4-1D20-62109DDCCE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b="1" dirty="0"/>
              <a:t>Examples:</a:t>
            </a:r>
          </a:p>
          <a:p>
            <a:r>
              <a:rPr lang="en-US" dirty="0"/>
              <a:t>Smartphone </a:t>
            </a:r>
          </a:p>
          <a:p>
            <a:r>
              <a:rPr lang="en-US" dirty="0"/>
              <a:t>Smartwatch </a:t>
            </a:r>
          </a:p>
          <a:p>
            <a:r>
              <a:rPr lang="en-US" dirty="0"/>
              <a:t>Smart TV </a:t>
            </a:r>
          </a:p>
          <a:p>
            <a:r>
              <a:rPr lang="en-US" dirty="0"/>
              <a:t>Alexa / Google Home </a:t>
            </a:r>
          </a:p>
          <a:p>
            <a:r>
              <a:rPr lang="en-US" dirty="0"/>
              <a:t>Smart lights </a:t>
            </a:r>
          </a:p>
          <a:p>
            <a:r>
              <a:rPr lang="en-US" dirty="0"/>
              <a:t>AirPods </a:t>
            </a:r>
          </a:p>
          <a:p>
            <a:r>
              <a:rPr lang="en-US" dirty="0"/>
              <a:t>Gaming console </a:t>
            </a:r>
          </a:p>
          <a:p>
            <a:r>
              <a:rPr lang="en-US" b="1" dirty="0"/>
              <a:t>Activity:</a:t>
            </a:r>
          </a:p>
          <a:p>
            <a:r>
              <a:rPr lang="en-US" dirty="0"/>
              <a:t>Raise your hand if you use:</a:t>
            </a:r>
          </a:p>
          <a:p>
            <a:r>
              <a:rPr lang="en-US" dirty="0"/>
              <a:t>Bluetooth headphones </a:t>
            </a:r>
          </a:p>
          <a:p>
            <a:r>
              <a:rPr lang="en-US" dirty="0"/>
              <a:t>Smartwatch </a:t>
            </a:r>
          </a:p>
          <a:p>
            <a:r>
              <a:rPr lang="en-US" dirty="0"/>
              <a:t>Voice assistant </a:t>
            </a:r>
          </a:p>
          <a:p>
            <a:r>
              <a:rPr lang="en-US" dirty="0"/>
              <a:t>Online gaming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97726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EF0FD-F2F9-905F-D130-CB16E4513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IoT Mean?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4C7A31-AB69-302C-2EB0-649A21A094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IoT = Internet of Things</a:t>
            </a:r>
          </a:p>
          <a:p>
            <a:r>
              <a:rPr lang="en-US" b="1" dirty="0"/>
              <a:t>Simple Definition:</a:t>
            </a:r>
          </a:p>
          <a:p>
            <a:r>
              <a:rPr lang="en-US" dirty="0"/>
              <a:t>Devices connected to the internet that can:</a:t>
            </a:r>
          </a:p>
          <a:p>
            <a:r>
              <a:rPr lang="en-US" dirty="0"/>
              <a:t>collect data </a:t>
            </a:r>
          </a:p>
          <a:p>
            <a:r>
              <a:rPr lang="en-US" dirty="0"/>
              <a:t>communicate </a:t>
            </a:r>
          </a:p>
          <a:p>
            <a:r>
              <a:rPr lang="en-US" dirty="0"/>
              <a:t>make decisions </a:t>
            </a:r>
          </a:p>
          <a:p>
            <a:r>
              <a:rPr lang="en-US" dirty="0"/>
              <a:t>help humans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47762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A1F7B-93B5-83D4-A18F-40DA23F9A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IoT = Thing + Computer + Internet</a:t>
            </a:r>
            <a:br>
              <a:rPr lang="en-US" b="1" dirty="0"/>
            </a:b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1EF9CF3-944B-7650-F5C2-C721470372F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3269774"/>
          <a:ext cx="10515600" cy="146304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2490692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8531320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Part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30124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Thing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Refrigerator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35351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Computer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Sensors + processor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024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Internet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Wi-Fi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1482138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0E5E9171-35D2-A0C7-D9A7-95963D6752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Smart Fridge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49881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5F176-92DF-A00A-D45B-89DB52AC3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IoT Devices Around You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3332E-E3FF-6FF3-A000-8021464686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Examples:</a:t>
            </a:r>
          </a:p>
          <a:p>
            <a:r>
              <a:rPr lang="en-US" dirty="0"/>
              <a:t>Smart TVs </a:t>
            </a:r>
          </a:p>
          <a:p>
            <a:r>
              <a:rPr lang="en-US" dirty="0"/>
              <a:t>Smartwatches </a:t>
            </a:r>
          </a:p>
          <a:p>
            <a:r>
              <a:rPr lang="en-US" dirty="0"/>
              <a:t>Ring Doorbells </a:t>
            </a:r>
          </a:p>
          <a:p>
            <a:r>
              <a:rPr lang="en-US" dirty="0"/>
              <a:t>Smart speakers </a:t>
            </a:r>
          </a:p>
          <a:p>
            <a:r>
              <a:rPr lang="en-US" dirty="0"/>
              <a:t>Smart cars </a:t>
            </a:r>
          </a:p>
          <a:p>
            <a:r>
              <a:rPr lang="en-US" dirty="0"/>
              <a:t>Fitness trackers </a:t>
            </a:r>
          </a:p>
          <a:p>
            <a:r>
              <a:rPr lang="en-US" b="1" dirty="0"/>
              <a:t>Speaking:</a:t>
            </a:r>
          </a:p>
          <a:p>
            <a:r>
              <a:rPr lang="en-US" dirty="0"/>
              <a:t>“Which IoT device do you think is most useful?”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94217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E9533-CC8D-AD98-265E-8A8CDA4B7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Smart Refrigerator Example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B5EA38D-2B03-FF7C-A5CA-E46216A182E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3086894"/>
          <a:ext cx="10515600" cy="18288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87330478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1694123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Normal Fridge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Smart Fridge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0115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Keeps food cold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Detects food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00682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No internet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Connected online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28227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No sensors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Cameras &amp; sensors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75608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Manual shopping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Can suggest shopping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6057628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61B77DE2-06A6-866B-6E8D-993098BF04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Normal Fridge vs Smart Fridge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94908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2E579-7B16-98C2-B06B-837F1A664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Would You Want a Smart Fridge?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528C8F-C4C5-F53E-0775-8984F9A993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Possible Features:</a:t>
            </a:r>
          </a:p>
          <a:p>
            <a:r>
              <a:rPr lang="en-US" dirty="0"/>
              <a:t>Orders milk automatically </a:t>
            </a:r>
          </a:p>
          <a:p>
            <a:r>
              <a:rPr lang="en-US" dirty="0"/>
              <a:t>Suggests recipes </a:t>
            </a:r>
          </a:p>
          <a:p>
            <a:r>
              <a:rPr lang="en-US" dirty="0"/>
              <a:t>Warns about expired food </a:t>
            </a:r>
          </a:p>
          <a:p>
            <a:r>
              <a:rPr lang="en-US" dirty="0"/>
              <a:t>Tracks calories </a:t>
            </a:r>
          </a:p>
          <a:p>
            <a:r>
              <a:rPr lang="en-US" b="1" dirty="0"/>
              <a:t>Discussion:</a:t>
            </a:r>
          </a:p>
          <a:p>
            <a:r>
              <a:rPr lang="en-US" dirty="0"/>
              <a:t>“Would this help your family or become annoying?”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16149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48B8D-5415-38FC-93C2-BA0C41421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Cars Are IoT Devices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7E15B9-721E-0D78-CED3-0DFFF21FD4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Modern cars have:</a:t>
            </a:r>
          </a:p>
          <a:p>
            <a:r>
              <a:rPr lang="en-US" dirty="0"/>
              <a:t>GPS </a:t>
            </a:r>
          </a:p>
          <a:p>
            <a:r>
              <a:rPr lang="en-US" dirty="0"/>
              <a:t>Sensors </a:t>
            </a:r>
          </a:p>
          <a:p>
            <a:r>
              <a:rPr lang="en-US" dirty="0"/>
              <a:t>Cameras </a:t>
            </a:r>
          </a:p>
          <a:p>
            <a:r>
              <a:rPr lang="en-US" dirty="0"/>
              <a:t>Bluetooth </a:t>
            </a:r>
          </a:p>
          <a:p>
            <a:r>
              <a:rPr lang="en-US" dirty="0"/>
              <a:t>Internet </a:t>
            </a:r>
          </a:p>
          <a:p>
            <a:r>
              <a:rPr lang="en-US" dirty="0"/>
              <a:t>AI systems </a:t>
            </a:r>
          </a:p>
          <a:p>
            <a:r>
              <a:rPr lang="en-US" b="1" dirty="0"/>
              <a:t>Example:</a:t>
            </a:r>
          </a:p>
          <a:p>
            <a:r>
              <a:rPr lang="en-US" dirty="0"/>
              <a:t>Tesla autopilot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89439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42F1A-1125-AEA4-BECC-762EA2AE7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Cars Became Smarter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04B1DC-A960-765F-48F1-02F246B49A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Computers Inside Cars</a:t>
            </a:r>
          </a:p>
          <a:p>
            <a:r>
              <a:rPr lang="en-US" dirty="0"/>
              <a:t>Modern cars use processors for:</a:t>
            </a:r>
          </a:p>
          <a:p>
            <a:r>
              <a:rPr lang="en-US" dirty="0"/>
              <a:t>braking </a:t>
            </a:r>
          </a:p>
          <a:p>
            <a:r>
              <a:rPr lang="en-US" dirty="0"/>
              <a:t>parking </a:t>
            </a:r>
          </a:p>
          <a:p>
            <a:r>
              <a:rPr lang="en-US" dirty="0"/>
              <a:t>navigation </a:t>
            </a:r>
          </a:p>
          <a:p>
            <a:r>
              <a:rPr lang="en-US" dirty="0"/>
              <a:t>fuel efficiency </a:t>
            </a:r>
          </a:p>
          <a:p>
            <a:r>
              <a:rPr lang="en-US" dirty="0"/>
              <a:t>safety systems </a:t>
            </a:r>
          </a:p>
          <a:p>
            <a:r>
              <a:rPr lang="en-US" b="1" dirty="0"/>
              <a:t>Key idea:</a:t>
            </a:r>
          </a:p>
          <a:p>
            <a:r>
              <a:rPr lang="en-US" dirty="0"/>
              <a:t>The car still looks simple to drive.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66405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02B13-1A83-4F7E-FA1B-1BA350890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IoT in Healthcare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CBE813-8065-71DA-C950-E2B5000C97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Smart Health Devices</a:t>
            </a:r>
          </a:p>
          <a:p>
            <a:r>
              <a:rPr lang="en-US" b="1" dirty="0"/>
              <a:t>Examples:</a:t>
            </a:r>
          </a:p>
          <a:p>
            <a:r>
              <a:rPr lang="en-US" dirty="0"/>
              <a:t>Smartwatch heart tracking </a:t>
            </a:r>
          </a:p>
          <a:p>
            <a:r>
              <a:rPr lang="en-US" dirty="0"/>
              <a:t>Pacemakers </a:t>
            </a:r>
          </a:p>
          <a:p>
            <a:r>
              <a:rPr lang="en-US" dirty="0"/>
              <a:t>Insulin pumps </a:t>
            </a:r>
          </a:p>
          <a:p>
            <a:r>
              <a:rPr lang="en-US" dirty="0"/>
              <a:t>Fitness trackers </a:t>
            </a:r>
          </a:p>
          <a:p>
            <a:r>
              <a:rPr lang="en-US" b="1" dirty="0"/>
              <a:t>Discussion:</a:t>
            </a:r>
          </a:p>
          <a:p>
            <a:r>
              <a:rPr lang="en-US" dirty="0"/>
              <a:t>“Would you trust a device to monitor your health?”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58916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1D7A6-CB93-7719-76E4-55C7DF752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IoT at Home : Smart Homes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F50DD-B213-31CF-B66B-5447F548A7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Examples:</a:t>
            </a:r>
          </a:p>
          <a:p>
            <a:r>
              <a:rPr lang="en-US" dirty="0"/>
              <a:t>Smart lights </a:t>
            </a:r>
          </a:p>
          <a:p>
            <a:r>
              <a:rPr lang="en-US" dirty="0"/>
              <a:t>Smart locks </a:t>
            </a:r>
          </a:p>
          <a:p>
            <a:r>
              <a:rPr lang="en-US" dirty="0"/>
              <a:t>Smart thermostats </a:t>
            </a:r>
          </a:p>
          <a:p>
            <a:r>
              <a:rPr lang="en-US" dirty="0"/>
              <a:t>Smart cameras </a:t>
            </a:r>
          </a:p>
          <a:p>
            <a:r>
              <a:rPr lang="en-US" b="1" dirty="0"/>
              <a:t>Example:</a:t>
            </a:r>
          </a:p>
          <a:p>
            <a:r>
              <a:rPr lang="en-US" dirty="0"/>
              <a:t>Turn your lights on using your phone.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2659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F9110-A713-31A9-534E-45B5004FB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IoT in Schools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6CCFE4-1651-B378-57B5-9EF1846F63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Examples:</a:t>
            </a:r>
          </a:p>
          <a:p>
            <a:r>
              <a:rPr lang="en-US" dirty="0"/>
              <a:t>Attendance systems </a:t>
            </a:r>
          </a:p>
          <a:p>
            <a:r>
              <a:rPr lang="en-US" dirty="0"/>
              <a:t>RFID cards </a:t>
            </a:r>
          </a:p>
          <a:p>
            <a:r>
              <a:rPr lang="en-US" dirty="0"/>
              <a:t>Smart projectors </a:t>
            </a:r>
          </a:p>
          <a:p>
            <a:r>
              <a:rPr lang="en-US" dirty="0"/>
              <a:t>Security cameras </a:t>
            </a:r>
          </a:p>
          <a:p>
            <a:r>
              <a:rPr lang="en-US" dirty="0"/>
              <a:t>Motion sensors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98820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B7969-AA5D-9BF5-EA12-B4B74E708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IoT and Gaming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FF1857-C290-5D4C-43FB-57D45E64BA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Gaming Uses IoT Too</a:t>
            </a:r>
          </a:p>
          <a:p>
            <a:r>
              <a:rPr lang="en-US" b="1" dirty="0"/>
              <a:t>Examples:</a:t>
            </a:r>
          </a:p>
          <a:p>
            <a:r>
              <a:rPr lang="en-US" dirty="0"/>
              <a:t>Online multiplayer </a:t>
            </a:r>
          </a:p>
          <a:p>
            <a:r>
              <a:rPr lang="en-US" dirty="0"/>
              <a:t>VR headsets </a:t>
            </a:r>
          </a:p>
          <a:p>
            <a:r>
              <a:rPr lang="en-US" dirty="0"/>
              <a:t>Cloud gaming </a:t>
            </a:r>
          </a:p>
          <a:p>
            <a:r>
              <a:rPr lang="en-US" dirty="0"/>
              <a:t>Motion controllers </a:t>
            </a:r>
          </a:p>
          <a:p>
            <a:r>
              <a:rPr lang="en-US" b="1" dirty="0"/>
              <a:t>Ask:</a:t>
            </a:r>
          </a:p>
          <a:p>
            <a:r>
              <a:rPr lang="en-US" dirty="0"/>
              <a:t>“What gaming technology do you think will exist in 10 years?”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39496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2967E-B267-2BB5-8F7F-EE3A24127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Embedded Computing?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75F8D0-AEDC-5D8B-F3B5-04138586D4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Tiny Computers Inside Devices</a:t>
            </a:r>
          </a:p>
          <a:p>
            <a:r>
              <a:rPr lang="en-US" b="1" dirty="0"/>
              <a:t>Examples:</a:t>
            </a:r>
          </a:p>
          <a:p>
            <a:r>
              <a:rPr lang="en-US" dirty="0"/>
              <a:t>Microwave </a:t>
            </a:r>
          </a:p>
          <a:p>
            <a:r>
              <a:rPr lang="en-US" dirty="0"/>
              <a:t>Washing machine </a:t>
            </a:r>
          </a:p>
          <a:p>
            <a:r>
              <a:rPr lang="en-US" dirty="0"/>
              <a:t>Car </a:t>
            </a:r>
          </a:p>
          <a:p>
            <a:r>
              <a:rPr lang="en-US" dirty="0"/>
              <a:t>Drone </a:t>
            </a:r>
          </a:p>
          <a:p>
            <a:r>
              <a:rPr lang="en-US" dirty="0"/>
              <a:t>Smart speaker </a:t>
            </a:r>
          </a:p>
          <a:p>
            <a:r>
              <a:rPr lang="en-US" b="1" dirty="0"/>
              <a:t>Key idea:</a:t>
            </a:r>
          </a:p>
          <a:p>
            <a:r>
              <a:rPr lang="en-US" dirty="0"/>
              <a:t>Most devices today secretly contain computers.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14375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26C70-3A5A-2BEB-5FAA-CD931ADAE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IoT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C97CC-E7E8-8872-92B6-F96882B5EC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Inside an IoT Device</a:t>
            </a:r>
          </a:p>
          <a:p>
            <a:r>
              <a:rPr lang="en-US" b="1" dirty="0"/>
              <a:t>Core Parts:</a:t>
            </a:r>
          </a:p>
          <a:p>
            <a:r>
              <a:rPr lang="en-US" dirty="0"/>
              <a:t>Sensors </a:t>
            </a:r>
          </a:p>
          <a:p>
            <a:r>
              <a:rPr lang="en-US" dirty="0"/>
              <a:t>Processor </a:t>
            </a:r>
          </a:p>
          <a:p>
            <a:r>
              <a:rPr lang="en-US" dirty="0"/>
              <a:t>Memory </a:t>
            </a:r>
          </a:p>
          <a:p>
            <a:r>
              <a:rPr lang="en-US" dirty="0"/>
              <a:t>Power supply </a:t>
            </a:r>
          </a:p>
          <a:p>
            <a:r>
              <a:rPr lang="en-US" dirty="0"/>
              <a:t>Internet connection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90776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4AE96-12B3-D897-3872-5220F3775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Sensors = Device Senses</a:t>
            </a:r>
            <a:br>
              <a:rPr lang="en-US" b="1" dirty="0"/>
            </a:b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B980B98-2BEC-23C4-39E6-194FE3F1183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3086894"/>
          <a:ext cx="10515600" cy="18288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16755134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4524820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Sensor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Detects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24707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Temperature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Heat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2390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Camera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Images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42554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85555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Motion sensor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Movement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6782053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4128AA7B-2CA7-2C1E-457F-A61DF5A042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12150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2B96C-F287-501D-57B7-A1500AD67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Raspberry Pi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2A0527-EE27-63C4-0A40-0F5BE370F6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Raspberry Pi</a:t>
            </a:r>
          </a:p>
          <a:p>
            <a:r>
              <a:rPr lang="en-US" b="1" dirty="0"/>
              <a:t>Tiny Computer for IoT</a:t>
            </a:r>
          </a:p>
          <a:p>
            <a:r>
              <a:rPr lang="en-US" b="1" dirty="0"/>
              <a:t>Uses:</a:t>
            </a:r>
          </a:p>
          <a:p>
            <a:r>
              <a:rPr lang="en-US" dirty="0"/>
              <a:t>Robots </a:t>
            </a:r>
          </a:p>
          <a:p>
            <a:r>
              <a:rPr lang="en-US" dirty="0"/>
              <a:t>Smart mirrors </a:t>
            </a:r>
          </a:p>
          <a:p>
            <a:r>
              <a:rPr lang="en-US" dirty="0"/>
              <a:t>Servers </a:t>
            </a:r>
          </a:p>
          <a:p>
            <a:r>
              <a:rPr lang="en-US" dirty="0"/>
              <a:t>Cameras </a:t>
            </a:r>
          </a:p>
          <a:p>
            <a:r>
              <a:rPr lang="en-US" dirty="0"/>
              <a:t>AI projects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B7FDD0-139E-4033-53CD-FC1640F79C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0067" y="1858297"/>
            <a:ext cx="4699199" cy="3141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425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CFC2D-575E-8C97-BFEE-2223A1E2D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Arduino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E6915-0243-63D0-6267-207F441B97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7768"/>
            <a:ext cx="10055942" cy="2084388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/>
              <a:t>Tiny Controller for Hardware</a:t>
            </a:r>
          </a:p>
          <a:p>
            <a:r>
              <a:rPr lang="en-US" b="1" dirty="0"/>
              <a:t>Great for:</a:t>
            </a:r>
          </a:p>
          <a:p>
            <a:r>
              <a:rPr lang="en-US" dirty="0"/>
              <a:t>LEDs </a:t>
            </a:r>
          </a:p>
          <a:p>
            <a:r>
              <a:rPr lang="en-US" dirty="0"/>
              <a:t>Sensors </a:t>
            </a:r>
          </a:p>
          <a:p>
            <a:r>
              <a:rPr lang="en-US" dirty="0"/>
              <a:t>Robots </a:t>
            </a:r>
          </a:p>
          <a:p>
            <a:r>
              <a:rPr lang="en-US" dirty="0"/>
              <a:t>Electronics</a:t>
            </a:r>
          </a:p>
          <a:p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CCACEAF-5C2D-71D2-691E-866DAE1C7A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1244058"/>
              </p:ext>
            </p:extLst>
          </p:nvPr>
        </p:nvGraphicFramePr>
        <p:xfrm>
          <a:off x="838200" y="4574858"/>
          <a:ext cx="10515600" cy="109728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96219395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7593296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Raspberry Pi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Arduino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13090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Full computer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Simple controller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20657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Runs Linux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Runs one program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346161"/>
                  </a:ext>
                </a:extLst>
              </a:tr>
            </a:tbl>
          </a:graphicData>
        </a:graphic>
      </p:graphicFrame>
      <p:sp>
        <p:nvSpPr>
          <p:cNvPr id="8" name="Rectangle 2">
            <a:extLst>
              <a:ext uri="{FF2B5EF4-FFF2-40B4-BE49-F238E27FC236}">
                <a16:creationId xmlns:a16="http://schemas.microsoft.com/office/drawing/2014/main" id="{5F28F57C-EA27-F2D5-90BF-C32534A58A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3926390"/>
            <a:ext cx="2866490" cy="9848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Difference: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15756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81556-046C-0A3E-D786-50E77D304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Raspberry Pi vs Arduino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CFFE78-CD3C-6065-0548-AF63D5ACD9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Which One Would You Choose?</a:t>
            </a:r>
          </a:p>
          <a:p>
            <a:r>
              <a:rPr lang="en-US" b="1" dirty="0"/>
              <a:t>Activity:</a:t>
            </a:r>
          </a:p>
          <a:p>
            <a:r>
              <a:rPr lang="en-US" dirty="0"/>
              <a:t>Choose the best tool for:</a:t>
            </a:r>
          </a:p>
          <a:p>
            <a:r>
              <a:rPr lang="en-US" dirty="0"/>
              <a:t>Traffic light </a:t>
            </a:r>
          </a:p>
          <a:p>
            <a:r>
              <a:rPr lang="en-US" dirty="0"/>
              <a:t>Robot </a:t>
            </a:r>
          </a:p>
          <a:p>
            <a:r>
              <a:rPr lang="en-US" dirty="0"/>
              <a:t>Smart mirror </a:t>
            </a:r>
          </a:p>
          <a:p>
            <a:r>
              <a:rPr lang="en-US" dirty="0"/>
              <a:t>Weather station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98414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84A1E-54E3-AF88-27D9-243CEC718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IoT Became Popular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3E2CE-F344-4C8B-08DA-975307625C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Technology Trends</a:t>
            </a:r>
          </a:p>
          <a:p>
            <a:r>
              <a:rPr lang="en-US" b="1" dirty="0"/>
              <a:t>IoT became possible because:</a:t>
            </a:r>
          </a:p>
          <a:p>
            <a:r>
              <a:rPr lang="en-US" dirty="0"/>
              <a:t>computers became cheaper </a:t>
            </a:r>
          </a:p>
          <a:p>
            <a:r>
              <a:rPr lang="en-US" dirty="0"/>
              <a:t>internet became faster </a:t>
            </a:r>
          </a:p>
          <a:p>
            <a:r>
              <a:rPr lang="en-US" dirty="0"/>
              <a:t>Wi-Fi became common </a:t>
            </a:r>
          </a:p>
          <a:p>
            <a:r>
              <a:rPr lang="en-US" dirty="0"/>
              <a:t>devices became smaller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04117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A240C-B940-FDF2-091D-10D2D1809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ENIAC vs Modern Devices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1E103080-C65B-68CD-4CCD-961DE7CEA3B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3269774"/>
          <a:ext cx="10515600" cy="146304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737174349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7522288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ENIAC (1945)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Modern Laptop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00484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27 tons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1–2 kg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35020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Huge room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Backpack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13417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Very expensive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Affordable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6617968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568A855D-E032-D048-BD4A-AE96647D7775}"/>
              </a:ext>
            </a:extLst>
          </p:cNvPr>
          <p:cNvSpPr txBox="1"/>
          <p:nvPr/>
        </p:nvSpPr>
        <p:spPr>
          <a:xfrm>
            <a:off x="838200" y="1957011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Computers Became Tiny</a:t>
            </a:r>
          </a:p>
        </p:txBody>
      </p:sp>
    </p:spTree>
    <p:extLst>
      <p:ext uri="{BB962C8B-B14F-4D97-AF65-F5344CB8AC3E}">
        <p14:creationId xmlns:p14="http://schemas.microsoft.com/office/powerpoint/2010/main" val="41347266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2EBB6-8D7A-F1CC-69A1-BDAED46A7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Cloud Computing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69D3EA-83B4-665F-9089-A40B70142E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IoT + Cloud</a:t>
            </a:r>
          </a:p>
          <a:p>
            <a:r>
              <a:rPr lang="en-US" b="1" dirty="0"/>
              <a:t>Example:</a:t>
            </a:r>
          </a:p>
          <a:p>
            <a:r>
              <a:rPr lang="en-US" dirty="0"/>
              <a:t>Siri / Alexa</a:t>
            </a:r>
          </a:p>
          <a:p>
            <a:r>
              <a:rPr lang="en-US" dirty="0"/>
              <a:t>Your device:</a:t>
            </a:r>
          </a:p>
          <a:p>
            <a:r>
              <a:rPr lang="en-US" dirty="0"/>
              <a:t>records your voice </a:t>
            </a:r>
          </a:p>
          <a:p>
            <a:r>
              <a:rPr lang="en-US" dirty="0"/>
              <a:t>Cloud:</a:t>
            </a:r>
          </a:p>
          <a:p>
            <a:r>
              <a:rPr lang="en-US" dirty="0"/>
              <a:t>processes the answer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8411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1882C-5D2B-4E85-310A-3531279E9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IoT Connects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F8D843-A85D-43DA-A93A-66C3434F11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Networking Basics</a:t>
            </a:r>
          </a:p>
          <a:p>
            <a:r>
              <a:rPr lang="en-US" b="1" dirty="0"/>
              <a:t>Devices use:</a:t>
            </a:r>
          </a:p>
          <a:p>
            <a:r>
              <a:rPr lang="en-US" dirty="0"/>
              <a:t>Wi-Fi </a:t>
            </a:r>
          </a:p>
          <a:p>
            <a:r>
              <a:rPr lang="en-US" dirty="0"/>
              <a:t>Bluetooth </a:t>
            </a:r>
          </a:p>
          <a:p>
            <a:r>
              <a:rPr lang="en-US" dirty="0"/>
              <a:t>Ethernet </a:t>
            </a:r>
          </a:p>
          <a:p>
            <a:r>
              <a:rPr lang="en-US" dirty="0"/>
              <a:t>4G / 5G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5572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B25F3-B077-BE51-B659-1F880F38A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Network Protocol?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33DA1D-34B6-DCA7-8BB5-F4CF88E31C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Devices Need Rules</a:t>
            </a:r>
          </a:p>
          <a:p>
            <a:r>
              <a:rPr lang="en-US" b="1" dirty="0"/>
              <a:t>Protocol = communication rules</a:t>
            </a:r>
          </a:p>
          <a:p>
            <a:r>
              <a:rPr lang="en-US" b="1" dirty="0"/>
              <a:t>Examples:</a:t>
            </a:r>
          </a:p>
          <a:p>
            <a:r>
              <a:rPr lang="en-US" dirty="0"/>
              <a:t>HTTP </a:t>
            </a:r>
          </a:p>
          <a:p>
            <a:r>
              <a:rPr lang="en-US" dirty="0"/>
              <a:t>HTTPS </a:t>
            </a:r>
          </a:p>
          <a:p>
            <a:r>
              <a:rPr lang="en-US" dirty="0"/>
              <a:t>Bluetooth </a:t>
            </a:r>
          </a:p>
          <a:p>
            <a:r>
              <a:rPr lang="en-US" dirty="0"/>
              <a:t>TCP/IP</a:t>
            </a:r>
          </a:p>
        </p:txBody>
      </p:sp>
    </p:spTree>
    <p:extLst>
      <p:ext uri="{BB962C8B-B14F-4D97-AF65-F5344CB8AC3E}">
        <p14:creationId xmlns:p14="http://schemas.microsoft.com/office/powerpoint/2010/main" val="116364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99778-2F9A-5832-1BFD-C86CA6E61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IoT Security Risks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F4D44-0543-394F-39CC-F2EA320F35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Problems With IoT</a:t>
            </a:r>
          </a:p>
          <a:p>
            <a:r>
              <a:rPr lang="en-US" b="1" dirty="0"/>
              <a:t>Risks:</a:t>
            </a:r>
          </a:p>
          <a:p>
            <a:r>
              <a:rPr lang="en-US" dirty="0"/>
              <a:t>hacking </a:t>
            </a:r>
          </a:p>
          <a:p>
            <a:r>
              <a:rPr lang="en-US" dirty="0"/>
              <a:t>spying </a:t>
            </a:r>
          </a:p>
          <a:p>
            <a:r>
              <a:rPr lang="en-US" dirty="0"/>
              <a:t>stolen passwords </a:t>
            </a:r>
          </a:p>
          <a:p>
            <a:r>
              <a:rPr lang="en-US" dirty="0"/>
              <a:t>cameras being accessed </a:t>
            </a:r>
          </a:p>
          <a:p>
            <a:r>
              <a:rPr lang="en-US" dirty="0"/>
              <a:t>tracking your location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73193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A0310-8DBB-4B8E-FDBC-11D0DEB6A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Privacy 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3C0833-16E7-8FCD-89B5-F10FA8034F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Are Smart Devices Always Listening?</a:t>
            </a:r>
          </a:p>
          <a:p>
            <a:r>
              <a:rPr lang="en-US" b="1" dirty="0"/>
              <a:t>Discussion:</a:t>
            </a:r>
          </a:p>
          <a:p>
            <a:r>
              <a:rPr lang="en-US" dirty="0"/>
              <a:t>Alexa </a:t>
            </a:r>
          </a:p>
          <a:p>
            <a:r>
              <a:rPr lang="en-US" dirty="0"/>
              <a:t>Siri </a:t>
            </a:r>
          </a:p>
          <a:p>
            <a:r>
              <a:rPr lang="en-US" dirty="0"/>
              <a:t>TikTok </a:t>
            </a:r>
          </a:p>
          <a:p>
            <a:r>
              <a:rPr lang="en-US" dirty="0"/>
              <a:t>Smart TVs </a:t>
            </a:r>
          </a:p>
          <a:p>
            <a:r>
              <a:rPr lang="en-US" b="1" dirty="0"/>
              <a:t>Ask:</a:t>
            </a:r>
          </a:p>
          <a:p>
            <a:r>
              <a:rPr lang="en-US" dirty="0"/>
              <a:t>“How much privacy are people willing to trade for convenience?”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59892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FDDCF-A1B3-D918-8B28-8AB040C5E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Social Effects of IoT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6AF6EC-FA2B-32E4-C81C-7D4840CB60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IoT Changes Society</a:t>
            </a:r>
          </a:p>
          <a:p>
            <a:pPr marL="0" indent="0">
              <a:buNone/>
            </a:pPr>
            <a:r>
              <a:rPr lang="en-US" b="1" dirty="0"/>
              <a:t>Benefits:</a:t>
            </a:r>
          </a:p>
          <a:p>
            <a:r>
              <a:rPr lang="en-US" dirty="0"/>
              <a:t>easier life </a:t>
            </a:r>
          </a:p>
          <a:p>
            <a:r>
              <a:rPr lang="en-US" dirty="0"/>
              <a:t>automation </a:t>
            </a:r>
          </a:p>
          <a:p>
            <a:r>
              <a:rPr lang="en-US" dirty="0"/>
              <a:t>healthcare help </a:t>
            </a:r>
          </a:p>
          <a:p>
            <a:pPr marL="0" indent="0">
              <a:buNone/>
            </a:pPr>
            <a:r>
              <a:rPr lang="en-US" b="1" dirty="0"/>
              <a:t>Risks:</a:t>
            </a:r>
          </a:p>
          <a:p>
            <a:r>
              <a:rPr lang="en-US" dirty="0"/>
              <a:t>less human interaction </a:t>
            </a:r>
          </a:p>
          <a:p>
            <a:r>
              <a:rPr lang="en-US" dirty="0"/>
              <a:t>screen addiction </a:t>
            </a:r>
          </a:p>
          <a:p>
            <a:r>
              <a:rPr lang="en-US" dirty="0"/>
              <a:t>overdependence on technology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51892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4F230-98AA-9E05-EB13-A26742BAD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F7FBA2-589C-D053-6D7A-376B4401E9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5068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689</Words>
  <Application>Microsoft Office PowerPoint</Application>
  <PresentationFormat>Widescreen</PresentationFormat>
  <Paragraphs>250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Arial</vt:lpstr>
      <vt:lpstr>Calibri</vt:lpstr>
      <vt:lpstr>Calibri Light</vt:lpstr>
      <vt:lpstr>Office Theme</vt:lpstr>
      <vt:lpstr>PowerPoint Presentation</vt:lpstr>
      <vt:lpstr>The Internet of Things (IoT) </vt:lpstr>
      <vt:lpstr>What Smart Devices Do You Use? </vt:lpstr>
      <vt:lpstr>What Does IoT Mean?</vt:lpstr>
      <vt:lpstr>IoT = Thing + Computer + Internet </vt:lpstr>
      <vt:lpstr>IoT Devices Around You </vt:lpstr>
      <vt:lpstr>Smart Refrigerator Example</vt:lpstr>
      <vt:lpstr>Would You Want a Smart Fridge? </vt:lpstr>
      <vt:lpstr>Cars Are IoT Devices </vt:lpstr>
      <vt:lpstr>Why Cars Became Smarter</vt:lpstr>
      <vt:lpstr>IoT in Healthcare</vt:lpstr>
      <vt:lpstr>IoT at Home : Smart Homes</vt:lpstr>
      <vt:lpstr>IoT in Schools </vt:lpstr>
      <vt:lpstr>IoT and Gaming</vt:lpstr>
      <vt:lpstr>What Is Embedded Computing?</vt:lpstr>
      <vt:lpstr>Main IoT Components</vt:lpstr>
      <vt:lpstr>Sensors = Device Senses </vt:lpstr>
      <vt:lpstr>Raspberry Pi</vt:lpstr>
      <vt:lpstr>Arduino</vt:lpstr>
      <vt:lpstr>Raspberry Pi vs Arduino</vt:lpstr>
      <vt:lpstr>Why IoT Became Popular</vt:lpstr>
      <vt:lpstr>ENIAC vs Modern Devices</vt:lpstr>
      <vt:lpstr>Cloud Computing</vt:lpstr>
      <vt:lpstr>How IoT Connects</vt:lpstr>
      <vt:lpstr>What Is a Network Protocol?</vt:lpstr>
      <vt:lpstr>IoT Security Risks</vt:lpstr>
      <vt:lpstr>Privacy Discussion</vt:lpstr>
      <vt:lpstr>Social Effects of IoT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Oscar Yáñez Feijóo</dc:creator>
  <cp:lastModifiedBy>Oscar Yáñez Feijóo</cp:lastModifiedBy>
  <cp:revision>1</cp:revision>
  <dcterms:created xsi:type="dcterms:W3CDTF">2026-05-07T03:34:43Z</dcterms:created>
  <dcterms:modified xsi:type="dcterms:W3CDTF">2026-05-07T03:35:03Z</dcterms:modified>
</cp:coreProperties>
</file>