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324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04" r:id="rId51"/>
    <p:sldId id="305" r:id="rId52"/>
    <p:sldId id="306" r:id="rId53"/>
    <p:sldId id="307" r:id="rId54"/>
    <p:sldId id="308" r:id="rId55"/>
    <p:sldId id="309" r:id="rId56"/>
    <p:sldId id="310" r:id="rId57"/>
    <p:sldId id="311" r:id="rId58"/>
    <p:sldId id="312" r:id="rId59"/>
    <p:sldId id="313" r:id="rId60"/>
    <p:sldId id="314" r:id="rId61"/>
    <p:sldId id="315" r:id="rId62"/>
    <p:sldId id="316" r:id="rId63"/>
    <p:sldId id="317" r:id="rId64"/>
    <p:sldId id="318" r:id="rId65"/>
    <p:sldId id="319" r:id="rId66"/>
    <p:sldId id="320" r:id="rId67"/>
    <p:sldId id="321" r:id="rId68"/>
    <p:sldId id="322" r:id="rId69"/>
    <p:sldId id="323" r:id="rId7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>
      <p:cViewPr varScale="1">
        <p:scale>
          <a:sx n="78" d="100"/>
          <a:sy n="78" d="100"/>
        </p:scale>
        <p:origin x="787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44E426-2F79-2D03-BC17-4381881707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646EA4-CDF1-D572-FEA7-60ED19F9CF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1D0E75-7C9B-E7E4-D924-9A940DF08B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5FCD0E-28F9-4B00-8966-0271C30172AE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15B7CD-73D2-D0C7-6DE5-BDC2F40AE9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C6133C-91BF-E4FD-70FC-18DB069CC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351D3-2EA9-4B11-BC45-687768FD9E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88360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E15DCA-C6CA-76CE-C0F1-C47FC33DA5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ED9B1-CC15-83E9-A725-6E30F9042B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AF7DFB-5980-CAF2-9DFA-6E83CDB88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5FCD0E-28F9-4B00-8966-0271C30172AE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DE11EF-60B9-54F5-59A6-8844B12BD5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ED72D3-6656-2F21-94B8-648C4AC08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351D3-2EA9-4B11-BC45-687768FD9E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01925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F9B86F-8E55-7F83-FF2F-9419364BBF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3E2E5D-E26C-6E10-3086-2976FC8DC7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E8BE58-EF25-F789-4BE5-1B651536D1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5FCD0E-28F9-4B00-8966-0271C30172AE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846D9C-A25A-6259-5F69-3C3C75BF79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88B01C-8CD3-F43B-3BA5-1C3C20688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351D3-2EA9-4B11-BC45-687768FD9E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3188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0582F5-A301-6378-EBE4-45563150C4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428493-7504-AA40-1CA1-35C731AB55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C2B268-0803-F770-7B0F-72ABF04363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BB7B5-1F0B-E20E-3446-40FE2CDBF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5FCD0E-28F9-4B00-8966-0271C30172AE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E6C635-FDA2-59E9-9224-B54C739F9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D795FE-513A-BC1E-A6C9-076EE6620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351D3-2EA9-4B11-BC45-687768FD9E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6086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736A-EDA3-8926-AF0E-61FEB34700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B9383A-0236-3CEA-648E-C336411FEA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A45891-1CF2-70C8-5A2D-96C7482438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7B2782C-A230-E113-DD71-51532C55F2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D8C25E9-9186-C939-22FE-EE4711C3DC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0308E7-C99C-AC37-10A3-FC6951B63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5FCD0E-28F9-4B00-8966-0271C30172AE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AD7F1D6-7856-874D-2747-1A63569498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A7AAB88-F9FA-247B-B097-05556694E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351D3-2EA9-4B11-BC45-687768FD9E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8536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395BE8-9484-A6B3-1887-3411037BB5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37F3E0A-A051-4A47-60B5-82FA5F29C0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5FCD0E-28F9-4B00-8966-0271C30172AE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F468E3-CD3B-1F43-CCEF-250CC62554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1A7427-287A-DA01-DFFB-D77EBAAD0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351D3-2EA9-4B11-BC45-687768FD9E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45405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057E837-A4E4-7AF5-B97A-E55B672B9F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5FCD0E-28F9-4B00-8966-0271C30172AE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8BEC819-E369-F2FD-A1ED-93D46C80DC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6B464B-DD96-447C-A6EC-AB26B3BC6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351D3-2EA9-4B11-BC45-687768FD9E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93079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7E213-ED59-BFC6-48B2-7E523DE006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D84F9A-9CAE-8770-9BCE-CC469446CC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024572-3C4B-4EB9-BC36-5BEDDB0270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4B4625-AB1D-AEC1-9A69-90B3466371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5FCD0E-28F9-4B00-8966-0271C30172AE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DD825A-4449-AA64-1282-775CE85AA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41F136-3FE2-F0E9-FA89-B5D6C20F1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351D3-2EA9-4B11-BC45-687768FD9E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214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3FC9FB-4169-AF93-AEEF-F1E03BCFCB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6FBD993-AAAD-0400-3349-3E94D795B9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681F82-CBBC-710D-CEA8-295E7124A2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DB55FB-1D4B-9FB2-9A71-1FB70F375F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5FCD0E-28F9-4B00-8966-0271C30172AE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1AC416-AD8B-50AE-241D-C16E39E2D8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E5DD01-DF1D-2CC9-9014-70D8A0A118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351D3-2EA9-4B11-BC45-687768FD9E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27928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3B0C5-6EFB-EEAD-D462-A419248D52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905FDB-CD60-2C7F-93DE-461A1CC4F2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FC3E2C-9AEB-86CE-FBB4-BB6CB75C31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5FCD0E-28F9-4B00-8966-0271C30172AE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559516-71BC-FE56-1530-63C873D3C1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ECE92B-418D-08EE-9BE2-F86AD49D4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351D3-2EA9-4B11-BC45-687768FD9E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061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C212CD-08B0-F7D8-4D0F-3CA8F006E5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52835D-9508-5612-0DE5-956C0AE1BF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A6A283-2A87-6892-644C-C7566EA1F4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5FCD0E-28F9-4B00-8966-0271C30172AE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5A5AB9-DE26-5C58-684A-331B336F82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290260-6E99-02A4-715E-29B73A356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351D3-2EA9-4B11-BC45-687768FD9E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04175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4C1C7C-E946-8C5F-04A0-E157B9B638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ED2074-62CC-00A1-4C98-F26A1F87AC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0A4F5D-9CE8-29CB-9254-45D7C72143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5FCD0E-28F9-4B00-8966-0271C30172AE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53491-EED4-E42D-48A9-F78A97BFCF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2C313C-F7DB-1619-4D94-E644C59AEF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0351D3-2EA9-4B11-BC45-687768FD9E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3411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6F6526-6B0A-96E1-9047-21A48C8ECFE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RASPBERRY PI 5, LINUX BASICS, TERMINAL, AND PROJECT IDEAS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8C41E2-7B30-86BD-61AF-C12D048BB84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Welcome to Day 3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DC79F16-187F-7AFA-5C73-9AAE1BED96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3" y="0"/>
            <a:ext cx="121782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02431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FC85E2-FEDA-D209-05ED-E375EFE1AB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Welcome to Day 3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DB48E15-0454-3F8A-599B-83FBEEA704C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553968" y="2084161"/>
            <a:ext cx="5492914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Day 3: Raspberry Pi 5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Today’s goal: understand and use a mini-computer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Topics: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What Raspberry Pi 5 is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How it differs from Arduino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Linux basics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Files, folders, and terminal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Raspberry Pi project ideas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29620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EA4116-213B-708F-31CE-1CC52239A6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we have done so far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0AC6B2-6ADB-A0EF-63C2-7D3937BDBB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Day 1: Scratch</a:t>
            </a:r>
          </a:p>
          <a:p>
            <a:r>
              <a:rPr lang="en-US" dirty="0"/>
              <a:t>Day 2: Arduino</a:t>
            </a:r>
          </a:p>
          <a:p>
            <a:r>
              <a:rPr lang="en-US" dirty="0"/>
              <a:t>Day 3: Raspberry Pi 5</a:t>
            </a:r>
          </a:p>
        </p:txBody>
      </p:sp>
    </p:spTree>
    <p:extLst>
      <p:ext uri="{BB962C8B-B14F-4D97-AF65-F5344CB8AC3E}">
        <p14:creationId xmlns:p14="http://schemas.microsoft.com/office/powerpoint/2010/main" val="14753301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9A3772-85CB-CC5F-386C-D1D81604A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you will learn today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22D852-E15E-517E-D7C9-FF4D380A51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Raspberry Pi 5 is</a:t>
            </a:r>
          </a:p>
          <a:p>
            <a:r>
              <a:rPr lang="en-US" dirty="0"/>
              <a:t>Why it is useful</a:t>
            </a:r>
          </a:p>
          <a:p>
            <a:r>
              <a:rPr lang="en-US" dirty="0"/>
              <a:t>Raspberry Pi vs Arduino</a:t>
            </a:r>
          </a:p>
          <a:p>
            <a:r>
              <a:rPr lang="en-US" dirty="0"/>
              <a:t>Raspberry Pi vs laptop</a:t>
            </a:r>
          </a:p>
          <a:p>
            <a:r>
              <a:rPr lang="en-US" dirty="0"/>
              <a:t>What Linux is</a:t>
            </a:r>
          </a:p>
          <a:p>
            <a:r>
              <a:rPr lang="en-US" dirty="0"/>
              <a:t>How to use files, folders, and terminal</a:t>
            </a:r>
          </a:p>
          <a:p>
            <a:r>
              <a:rPr lang="en-US" dirty="0"/>
              <a:t>What projects Raspberry Pi can power</a:t>
            </a:r>
          </a:p>
        </p:txBody>
      </p:sp>
    </p:spTree>
    <p:extLst>
      <p:ext uri="{BB962C8B-B14F-4D97-AF65-F5344CB8AC3E}">
        <p14:creationId xmlns:p14="http://schemas.microsoft.com/office/powerpoint/2010/main" val="186426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84AFB7-CBB8-D8B0-9CA6-49114B3C0C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 starter 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94EA1B-E62B-8525-C82E-CD5DE2232C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Have you ever: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seen a Raspberry Pi?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used Linux?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used a terminal?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created folders with commands?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53962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C97D5-BECF-73FF-2062-85A41027CA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Raspberry Pi?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CA978C-C8F2-E6CF-8733-32451CEEA8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Raspberry Pi is a small, affordable computer</a:t>
            </a:r>
          </a:p>
          <a:p>
            <a:r>
              <a:rPr lang="en-US" dirty="0"/>
              <a:t>It can run an operating system</a:t>
            </a:r>
          </a:p>
          <a:p>
            <a:r>
              <a:rPr lang="en-US" dirty="0"/>
              <a:t>It can connect to:</a:t>
            </a:r>
          </a:p>
          <a:p>
            <a:pPr lvl="1"/>
            <a:r>
              <a:rPr lang="en-US" dirty="0"/>
              <a:t>Screen</a:t>
            </a:r>
          </a:p>
          <a:p>
            <a:pPr lvl="1"/>
            <a:r>
              <a:rPr lang="en-US" dirty="0"/>
              <a:t>Keyboard</a:t>
            </a:r>
          </a:p>
          <a:p>
            <a:pPr lvl="1"/>
            <a:r>
              <a:rPr lang="en-US" dirty="0"/>
              <a:t>Mouse</a:t>
            </a:r>
          </a:p>
          <a:p>
            <a:pPr lvl="1"/>
            <a:r>
              <a:rPr lang="en-US" dirty="0"/>
              <a:t>Internet</a:t>
            </a:r>
          </a:p>
          <a:p>
            <a:pPr lvl="1"/>
            <a:r>
              <a:rPr lang="en-US" dirty="0"/>
              <a:t>USB devices</a:t>
            </a:r>
          </a:p>
          <a:p>
            <a:pPr lvl="1"/>
            <a:r>
              <a:rPr lang="en-US" dirty="0"/>
              <a:t>electronic components</a:t>
            </a:r>
          </a:p>
        </p:txBody>
      </p:sp>
    </p:spTree>
    <p:extLst>
      <p:ext uri="{BB962C8B-B14F-4D97-AF65-F5344CB8AC3E}">
        <p14:creationId xmlns:p14="http://schemas.microsoft.com/office/powerpoint/2010/main" val="37608353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B2CEED-01EF-65BF-B8BE-E2214429F9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makes Raspberry Pi special?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C6A977-1B2C-60EE-69F6-19DFDC8F5C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very small</a:t>
            </a:r>
          </a:p>
          <a:p>
            <a:r>
              <a:rPr lang="en-US" dirty="0"/>
              <a:t>low power consumption</a:t>
            </a:r>
          </a:p>
          <a:p>
            <a:r>
              <a:rPr lang="en-US" dirty="0"/>
              <a:t>Flexible</a:t>
            </a:r>
          </a:p>
          <a:p>
            <a:r>
              <a:rPr lang="en-US" dirty="0"/>
              <a:t>useful for learning, coding, electronics, and projects</a:t>
            </a:r>
          </a:p>
        </p:txBody>
      </p:sp>
    </p:spTree>
    <p:extLst>
      <p:ext uri="{BB962C8B-B14F-4D97-AF65-F5344CB8AC3E}">
        <p14:creationId xmlns:p14="http://schemas.microsoft.com/office/powerpoint/2010/main" val="35315838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008C-85AC-0EF6-3EC8-BECC26230E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Raspberry Pi 5 in simple words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F26A54-0ECC-59CD-4DA8-AA586280E1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mini-computer</a:t>
            </a:r>
          </a:p>
          <a:p>
            <a:r>
              <a:rPr lang="en-US" dirty="0"/>
              <a:t>can run Linux</a:t>
            </a:r>
          </a:p>
          <a:p>
            <a:r>
              <a:rPr lang="en-US" dirty="0"/>
              <a:t>can open apps</a:t>
            </a:r>
          </a:p>
          <a:p>
            <a:r>
              <a:rPr lang="en-US" dirty="0"/>
              <a:t>can browse the web</a:t>
            </a:r>
          </a:p>
          <a:p>
            <a:r>
              <a:rPr lang="en-US" dirty="0"/>
              <a:t>can run Python</a:t>
            </a:r>
          </a:p>
          <a:p>
            <a:r>
              <a:rPr lang="en-US" dirty="0"/>
              <a:t>can control GPIO pins</a:t>
            </a:r>
          </a:p>
          <a:p>
            <a:r>
              <a:rPr lang="en-US" dirty="0"/>
              <a:t>can be used for many project types</a:t>
            </a:r>
          </a:p>
        </p:txBody>
      </p:sp>
    </p:spTree>
    <p:extLst>
      <p:ext uri="{BB962C8B-B14F-4D97-AF65-F5344CB8AC3E}">
        <p14:creationId xmlns:p14="http://schemas.microsoft.com/office/powerpoint/2010/main" val="24936216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C3EA62-3D05-221F-CFB2-BEF1D39A7E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Raspberry Pi is not the same as Arduino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55DB9F-2A06-654F-32ED-1D896F5698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870960" cy="4351338"/>
          </a:xfrm>
        </p:spPr>
        <p:txBody>
          <a:bodyPr>
            <a:normAutofit/>
          </a:bodyPr>
          <a:lstStyle/>
          <a:p>
            <a:r>
              <a:rPr lang="en-US" dirty="0"/>
              <a:t>Arduino</a:t>
            </a:r>
          </a:p>
          <a:p>
            <a:pPr lvl="1"/>
            <a:r>
              <a:rPr lang="en-US" dirty="0"/>
              <a:t>Microcontroller</a:t>
            </a:r>
          </a:p>
          <a:p>
            <a:pPr lvl="1"/>
            <a:r>
              <a:rPr lang="en-US" dirty="0"/>
              <a:t>runs one simple program repeatedly</a:t>
            </a:r>
          </a:p>
          <a:p>
            <a:pPr lvl="1"/>
            <a:r>
              <a:rPr lang="en-US" dirty="0"/>
              <a:t>great for sensors and simple control</a:t>
            </a:r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ECD1CA2-D1E3-89C9-0CF1-FA821BF3F151}"/>
              </a:ext>
            </a:extLst>
          </p:cNvPr>
          <p:cNvSpPr txBox="1">
            <a:spLocks/>
          </p:cNvSpPr>
          <p:nvPr/>
        </p:nvSpPr>
        <p:spPr>
          <a:xfrm>
            <a:off x="6440424" y="1377569"/>
            <a:ext cx="387096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Font typeface="Arial" panose="020B0604020202020204" pitchFamily="34" charset="0"/>
              <a:buNone/>
            </a:pPr>
            <a:endParaRPr lang="en-US" dirty="0"/>
          </a:p>
          <a:p>
            <a:r>
              <a:rPr lang="en-US" dirty="0"/>
              <a:t>Raspberry Pi</a:t>
            </a:r>
          </a:p>
          <a:p>
            <a:pPr marL="457200" lvl="1" indent="0">
              <a:buFont typeface="Arial" panose="020B0604020202020204" pitchFamily="34" charset="0"/>
              <a:buNone/>
            </a:pPr>
            <a:r>
              <a:rPr lang="en-US" dirty="0"/>
              <a:t>- full computer</a:t>
            </a:r>
          </a:p>
          <a:p>
            <a:pPr marL="457200" lvl="1" indent="0">
              <a:buFont typeface="Arial" panose="020B0604020202020204" pitchFamily="34" charset="0"/>
              <a:buNone/>
            </a:pPr>
            <a:r>
              <a:rPr lang="en-US" dirty="0"/>
              <a:t>- runs an operating system</a:t>
            </a:r>
          </a:p>
          <a:p>
            <a:pPr marL="457200" lvl="1" indent="0">
              <a:buFont typeface="Arial" panose="020B0604020202020204" pitchFamily="34" charset="0"/>
              <a:buNone/>
            </a:pPr>
            <a:r>
              <a:rPr lang="en-US" dirty="0"/>
              <a:t>- can do many tasks at once</a:t>
            </a:r>
          </a:p>
        </p:txBody>
      </p:sp>
    </p:spTree>
    <p:extLst>
      <p:ext uri="{BB962C8B-B14F-4D97-AF65-F5344CB8AC3E}">
        <p14:creationId xmlns:p14="http://schemas.microsoft.com/office/powerpoint/2010/main" val="2060857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CF997E-82D5-8186-BCD7-ECDBB20659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Arduino vs Raspberry Pi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2D5E72-5CEA-1F82-5779-E03D667BCB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30824" y="1825625"/>
            <a:ext cx="387096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Raspberry Pi:</a:t>
            </a:r>
          </a:p>
          <a:p>
            <a:r>
              <a:rPr lang="en-US" dirty="0"/>
              <a:t>more powerful </a:t>
            </a:r>
          </a:p>
          <a:p>
            <a:r>
              <a:rPr lang="en-US" dirty="0"/>
              <a:t>more flexible </a:t>
            </a:r>
          </a:p>
          <a:p>
            <a:r>
              <a:rPr lang="en-US" dirty="0"/>
              <a:t>runs applications </a:t>
            </a:r>
          </a:p>
          <a:p>
            <a:r>
              <a:rPr lang="en-US" dirty="0"/>
              <a:t>works like a computer</a:t>
            </a:r>
          </a:p>
          <a:p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904EF3E-A1FE-0963-2955-D67B2F2AE1B8}"/>
              </a:ext>
            </a:extLst>
          </p:cNvPr>
          <p:cNvSpPr txBox="1">
            <a:spLocks/>
          </p:cNvSpPr>
          <p:nvPr/>
        </p:nvSpPr>
        <p:spPr>
          <a:xfrm>
            <a:off x="990600" y="1978025"/>
            <a:ext cx="387096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Arduino:</a:t>
            </a:r>
          </a:p>
          <a:p>
            <a:r>
              <a:rPr lang="en-US" dirty="0"/>
              <a:t>simple </a:t>
            </a:r>
          </a:p>
          <a:p>
            <a:r>
              <a:rPr lang="en-US" dirty="0"/>
              <a:t>fast startup </a:t>
            </a:r>
          </a:p>
          <a:p>
            <a:r>
              <a:rPr lang="en-US" dirty="0"/>
              <a:t>hardware control </a:t>
            </a:r>
          </a:p>
          <a:p>
            <a:r>
              <a:rPr lang="en-US" dirty="0"/>
              <a:t>limited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08018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C68F6-746C-5B0A-9FC5-99FC2E6112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45688"/>
          </a:xfrm>
        </p:spPr>
        <p:txBody>
          <a:bodyPr/>
          <a:lstStyle/>
          <a:p>
            <a:r>
              <a:rPr lang="en-US" dirty="0"/>
              <a:t>Scenario Best tool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988C58-6D4A-EECB-9725-1C4EC38B8E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8374627" cy="4351338"/>
          </a:xfrm>
        </p:spPr>
        <p:txBody>
          <a:bodyPr/>
          <a:lstStyle/>
          <a:p>
            <a:pPr lvl="1"/>
            <a:r>
              <a:rPr lang="en-US" dirty="0"/>
              <a:t>Traffic light			Arduino</a:t>
            </a:r>
          </a:p>
          <a:p>
            <a:pPr lvl="1"/>
            <a:r>
              <a:rPr lang="en-US" dirty="0"/>
              <a:t>Web server			Raspberry Pi</a:t>
            </a:r>
          </a:p>
          <a:p>
            <a:pPr lvl="1"/>
            <a:r>
              <a:rPr lang="en-US" dirty="0"/>
              <a:t>Smart mirror			Raspberry Pi</a:t>
            </a:r>
          </a:p>
          <a:p>
            <a:pPr lvl="1"/>
            <a:r>
              <a:rPr lang="en-US" dirty="0"/>
              <a:t>Simple buzzer alarm		Arduino</a:t>
            </a:r>
          </a:p>
          <a:p>
            <a:pPr lvl="1"/>
            <a:r>
              <a:rPr lang="en-US" dirty="0"/>
              <a:t>Weather station			Both</a:t>
            </a:r>
          </a:p>
          <a:p>
            <a:pPr lvl="1"/>
            <a:r>
              <a:rPr lang="en-US" dirty="0"/>
              <a:t>Robot brain			Raspberry Pi + Arduino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025630E-2D09-1465-526F-757ACDEAE2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7703" y="1374059"/>
            <a:ext cx="5143500" cy="3429000"/>
          </a:xfrm>
          <a:prstGeom prst="rect">
            <a:avLst/>
          </a:prstGeom>
        </p:spPr>
      </p:pic>
      <p:pic>
        <p:nvPicPr>
          <p:cNvPr id="1026" name="Picture 2" descr="Raspberry Pi 5 - 8GB RAM">
            <a:extLst>
              <a:ext uri="{FF2B5EF4-FFF2-40B4-BE49-F238E27FC236}">
                <a16:creationId xmlns:a16="http://schemas.microsoft.com/office/drawing/2014/main" id="{CBDFB1D7-3AFD-FC8D-2849-E1418472FB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29459" y="1037969"/>
            <a:ext cx="4362450" cy="4362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726367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CBA2A-46F8-A6E0-A68E-744A99BB91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Raspberry Pi vs a normal laptop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6C96B9-3D46-323C-F572-A1807D5EFB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703064" cy="435133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dirty="0"/>
              <a:t>Laptop: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larger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more powerful in general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built for everyday computing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31B1DBA-F5B3-CD8F-F262-8F8FBBDB2E44}"/>
              </a:ext>
            </a:extLst>
          </p:cNvPr>
          <p:cNvSpPr txBox="1">
            <a:spLocks/>
          </p:cNvSpPr>
          <p:nvPr/>
        </p:nvSpPr>
        <p:spPr>
          <a:xfrm>
            <a:off x="5836920" y="1825625"/>
            <a:ext cx="4703064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dirty="0"/>
              <a:t>Raspberry Pi:</a:t>
            </a:r>
          </a:p>
          <a:p>
            <a:r>
              <a:rPr lang="en-US" dirty="0"/>
              <a:t>smaller </a:t>
            </a:r>
          </a:p>
          <a:p>
            <a:r>
              <a:rPr lang="en-US" dirty="0"/>
              <a:t>cheaper </a:t>
            </a:r>
          </a:p>
          <a:p>
            <a:r>
              <a:rPr lang="en-US" dirty="0"/>
              <a:t>lower power </a:t>
            </a:r>
          </a:p>
          <a:p>
            <a:r>
              <a:rPr lang="en-US" dirty="0"/>
              <a:t>often used for learning and projects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97057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88FEDB-597D-CFB3-1278-408149F63C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 of Raspberry Pi uses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49EFF7-A2F3-D52E-8A75-5AAD2D21CA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coding and education</a:t>
            </a:r>
          </a:p>
          <a:p>
            <a:r>
              <a:rPr lang="en-US" dirty="0"/>
              <a:t>home server</a:t>
            </a:r>
          </a:p>
          <a:p>
            <a:r>
              <a:rPr lang="en-US" dirty="0"/>
              <a:t>media </a:t>
            </a:r>
            <a:r>
              <a:rPr lang="en-US" dirty="0" err="1"/>
              <a:t>centre</a:t>
            </a:r>
            <a:endParaRPr lang="en-US" dirty="0"/>
          </a:p>
          <a:p>
            <a:r>
              <a:rPr lang="en-US" dirty="0"/>
              <a:t>smart home controller</a:t>
            </a:r>
          </a:p>
          <a:p>
            <a:r>
              <a:rPr lang="en-US" dirty="0"/>
              <a:t>weather station</a:t>
            </a:r>
          </a:p>
          <a:p>
            <a:r>
              <a:rPr lang="en-US" dirty="0"/>
              <a:t>retro gaming</a:t>
            </a:r>
          </a:p>
          <a:p>
            <a:r>
              <a:rPr lang="en-US" dirty="0"/>
              <a:t>Robotics</a:t>
            </a:r>
          </a:p>
          <a:p>
            <a:r>
              <a:rPr lang="en-US" dirty="0"/>
              <a:t>digital signage</a:t>
            </a:r>
          </a:p>
        </p:txBody>
      </p:sp>
    </p:spTree>
    <p:extLst>
      <p:ext uri="{BB962C8B-B14F-4D97-AF65-F5344CB8AC3E}">
        <p14:creationId xmlns:p14="http://schemas.microsoft.com/office/powerpoint/2010/main" val="2441934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F061E6-5FAB-DE56-FDDB-8850D47E1A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people love Raspberry Pi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7D314-8E81-2CC3-9432-FF24FE1D7D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Affordable</a:t>
            </a:r>
          </a:p>
          <a:p>
            <a:r>
              <a:rPr lang="en-US" dirty="0"/>
              <a:t>Practical</a:t>
            </a:r>
          </a:p>
          <a:p>
            <a:r>
              <a:rPr lang="en-US" dirty="0"/>
              <a:t>good for experimentation</a:t>
            </a:r>
          </a:p>
          <a:p>
            <a:r>
              <a:rPr lang="en-US" dirty="0"/>
              <a:t>teaches computing and hardware together</a:t>
            </a:r>
          </a:p>
          <a:p>
            <a:r>
              <a:rPr lang="en-US" dirty="0"/>
              <a:t>large community and lots of project ideas</a:t>
            </a:r>
          </a:p>
        </p:txBody>
      </p:sp>
    </p:spTree>
    <p:extLst>
      <p:ext uri="{BB962C8B-B14F-4D97-AF65-F5344CB8AC3E}">
        <p14:creationId xmlns:p14="http://schemas.microsoft.com/office/powerpoint/2010/main" val="5646451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3E021C-187E-0850-4AC4-5A3C2D4473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single-board computer?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A74569-38B1-077B-B1C1-5E2CB2DAF7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complete computer built on one </a:t>
            </a:r>
            <a:r>
              <a:rPr lang="en-US" dirty="0" err="1"/>
              <a:t>boardincludes</a:t>
            </a:r>
            <a:r>
              <a:rPr lang="en-US" dirty="0"/>
              <a:t> processor, memory, ports, and connections</a:t>
            </a:r>
          </a:p>
        </p:txBody>
      </p:sp>
    </p:spTree>
    <p:extLst>
      <p:ext uri="{BB962C8B-B14F-4D97-AF65-F5344CB8AC3E}">
        <p14:creationId xmlns:p14="http://schemas.microsoft.com/office/powerpoint/2010/main" val="31860163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FF34A7-ED72-EB67-617D-CB7CD66634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Main hardware parts on Raspberry Pi 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5F91D5-584F-A714-8F0E-C8FE0254C3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Label image or list:</a:t>
            </a:r>
          </a:p>
          <a:p>
            <a:r>
              <a:rPr lang="en-US" dirty="0"/>
              <a:t>USB ports</a:t>
            </a:r>
          </a:p>
          <a:p>
            <a:r>
              <a:rPr lang="en-US" dirty="0"/>
              <a:t>HDMI ports</a:t>
            </a:r>
          </a:p>
          <a:p>
            <a:r>
              <a:rPr lang="en-US" dirty="0"/>
              <a:t>power input</a:t>
            </a:r>
          </a:p>
          <a:p>
            <a:r>
              <a:rPr lang="en-US" dirty="0"/>
              <a:t>GPIO pins</a:t>
            </a:r>
          </a:p>
          <a:p>
            <a:r>
              <a:rPr lang="en-US" dirty="0"/>
              <a:t>microSD or storage</a:t>
            </a:r>
          </a:p>
          <a:p>
            <a:r>
              <a:rPr lang="en-US" dirty="0"/>
              <a:t>Processor</a:t>
            </a:r>
          </a:p>
          <a:p>
            <a:r>
              <a:rPr lang="en-US" dirty="0"/>
              <a:t>network connection</a:t>
            </a:r>
          </a:p>
        </p:txBody>
      </p:sp>
    </p:spTree>
    <p:extLst>
      <p:ext uri="{BB962C8B-B14F-4D97-AF65-F5344CB8AC3E}">
        <p14:creationId xmlns:p14="http://schemas.microsoft.com/office/powerpoint/2010/main" val="12824609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812010-7621-9A76-61B0-F4482603E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do you need to use Raspberry Pi?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9BFA38-386D-0A8E-4C27-995D4B3D56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Raspberry Pi board</a:t>
            </a:r>
          </a:p>
          <a:p>
            <a:r>
              <a:rPr lang="en-US" dirty="0"/>
              <a:t>power supply</a:t>
            </a:r>
          </a:p>
          <a:p>
            <a:r>
              <a:rPr lang="en-US" dirty="0"/>
              <a:t>storage with operating system</a:t>
            </a:r>
          </a:p>
          <a:p>
            <a:r>
              <a:rPr lang="en-US" dirty="0"/>
              <a:t>Screen</a:t>
            </a:r>
          </a:p>
          <a:p>
            <a:r>
              <a:rPr lang="en-US" dirty="0"/>
              <a:t>Keyboard</a:t>
            </a:r>
          </a:p>
          <a:p>
            <a:r>
              <a:rPr lang="en-US" dirty="0"/>
              <a:t>Mouse</a:t>
            </a:r>
          </a:p>
          <a:p>
            <a:r>
              <a:rPr lang="en-US" dirty="0"/>
              <a:t>optional internet</a:t>
            </a:r>
          </a:p>
        </p:txBody>
      </p:sp>
    </p:spTree>
    <p:extLst>
      <p:ext uri="{BB962C8B-B14F-4D97-AF65-F5344CB8AC3E}">
        <p14:creationId xmlns:p14="http://schemas.microsoft.com/office/powerpoint/2010/main" val="17526115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5AD1D6-BAD4-95DF-91EA-4D8F8A551E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an operating system?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7DD378-290C-6880-21E6-B43ADB0239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Software that manages the computer</a:t>
            </a:r>
          </a:p>
          <a:p>
            <a:r>
              <a:rPr lang="en-US" dirty="0"/>
              <a:t>lets you run programs</a:t>
            </a:r>
          </a:p>
          <a:p>
            <a:r>
              <a:rPr lang="en-US" dirty="0"/>
              <a:t>manages files, devices, and the interface</a:t>
            </a:r>
          </a:p>
          <a:p>
            <a:pPr marL="0" indent="0">
              <a:buNone/>
            </a:pPr>
            <a:r>
              <a:rPr lang="en-US" dirty="0"/>
              <a:t>Examples</a:t>
            </a:r>
          </a:p>
          <a:p>
            <a:r>
              <a:rPr lang="en-US" dirty="0"/>
              <a:t>Windows</a:t>
            </a:r>
          </a:p>
          <a:p>
            <a:r>
              <a:rPr lang="en-US" dirty="0"/>
              <a:t>macOS</a:t>
            </a:r>
          </a:p>
          <a:p>
            <a:r>
              <a:rPr lang="en-US" dirty="0"/>
              <a:t>Linux</a:t>
            </a:r>
          </a:p>
        </p:txBody>
      </p:sp>
    </p:spTree>
    <p:extLst>
      <p:ext uri="{BB962C8B-B14F-4D97-AF65-F5344CB8AC3E}">
        <p14:creationId xmlns:p14="http://schemas.microsoft.com/office/powerpoint/2010/main" val="6970782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5DEBB-1084-A12D-E4B4-F7D039A17A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Raspberry Pi usually runs Linux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55AFF8-1053-13A2-C588-4E88D190FF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Raspberry Pi often uses a Linux-based operating system</a:t>
            </a:r>
          </a:p>
          <a:p>
            <a:r>
              <a:rPr lang="en-US" dirty="0"/>
              <a:t>Linux is widely used in:</a:t>
            </a:r>
          </a:p>
          <a:p>
            <a:pPr lvl="1"/>
            <a:r>
              <a:rPr lang="en-US" dirty="0"/>
              <a:t>Servers</a:t>
            </a:r>
          </a:p>
          <a:p>
            <a:pPr lvl="1"/>
            <a:r>
              <a:rPr lang="en-US" dirty="0"/>
              <a:t>Programming</a:t>
            </a:r>
          </a:p>
          <a:p>
            <a:pPr lvl="1"/>
            <a:r>
              <a:rPr lang="en-US" dirty="0"/>
              <a:t>Cybersecurity</a:t>
            </a:r>
          </a:p>
          <a:p>
            <a:pPr lvl="1"/>
            <a:r>
              <a:rPr lang="en-US" dirty="0"/>
              <a:t>embedded systems</a:t>
            </a:r>
          </a:p>
          <a:p>
            <a:pPr lvl="1"/>
            <a:r>
              <a:rPr lang="en-US" dirty="0"/>
              <a:t>cloud systems</a:t>
            </a:r>
          </a:p>
        </p:txBody>
      </p:sp>
    </p:spTree>
    <p:extLst>
      <p:ext uri="{BB962C8B-B14F-4D97-AF65-F5344CB8AC3E}">
        <p14:creationId xmlns:p14="http://schemas.microsoft.com/office/powerpoint/2010/main" val="32466481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BC327-D9B8-5306-050E-EF08815B6C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Linux?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892A69-AE40-218D-80DC-2AC4F8F30E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operating system family</a:t>
            </a:r>
          </a:p>
          <a:p>
            <a:r>
              <a:rPr lang="en-US" dirty="0"/>
              <a:t>known for flexibility and control</a:t>
            </a:r>
          </a:p>
          <a:p>
            <a:r>
              <a:rPr lang="en-US" dirty="0"/>
              <a:t>common in technical and educational environments</a:t>
            </a:r>
          </a:p>
        </p:txBody>
      </p:sp>
    </p:spTree>
    <p:extLst>
      <p:ext uri="{BB962C8B-B14F-4D97-AF65-F5344CB8AC3E}">
        <p14:creationId xmlns:p14="http://schemas.microsoft.com/office/powerpoint/2010/main" val="21760546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CB998B-7D94-0F74-FED6-0F4D620117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learn a bit of Linux?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582105-25D8-641B-F0BF-CECAF23F65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useful for developers</a:t>
            </a:r>
          </a:p>
          <a:p>
            <a:r>
              <a:rPr lang="en-US" dirty="0"/>
              <a:t>useful for system administrators</a:t>
            </a:r>
          </a:p>
          <a:p>
            <a:r>
              <a:rPr lang="en-US" dirty="0"/>
              <a:t>useful for makers and robotics</a:t>
            </a:r>
          </a:p>
          <a:p>
            <a:r>
              <a:rPr lang="en-US" dirty="0"/>
              <a:t>useful in cybersecurity</a:t>
            </a:r>
          </a:p>
          <a:p>
            <a:r>
              <a:rPr lang="en-US" dirty="0"/>
              <a:t>useful for Raspberry Pi projects</a:t>
            </a:r>
          </a:p>
        </p:txBody>
      </p:sp>
    </p:spTree>
    <p:extLst>
      <p:ext uri="{BB962C8B-B14F-4D97-AF65-F5344CB8AC3E}">
        <p14:creationId xmlns:p14="http://schemas.microsoft.com/office/powerpoint/2010/main" val="811280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D51F2-C244-A5D0-10EC-03002F326A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Raspberry Pi desktop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3439BC-7ABF-B345-E079-C50530BD89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Menu</a:t>
            </a:r>
          </a:p>
          <a:p>
            <a:r>
              <a:rPr lang="en-US" dirty="0"/>
              <a:t>Desktop</a:t>
            </a:r>
          </a:p>
          <a:p>
            <a:r>
              <a:rPr lang="en-US" dirty="0"/>
              <a:t>Icons</a:t>
            </a:r>
          </a:p>
          <a:p>
            <a:r>
              <a:rPr lang="en-US" dirty="0"/>
              <a:t>Taskbar</a:t>
            </a:r>
          </a:p>
          <a:p>
            <a:r>
              <a:rPr lang="en-US" dirty="0"/>
              <a:t>file manager</a:t>
            </a:r>
          </a:p>
          <a:p>
            <a:r>
              <a:rPr lang="en-US" dirty="0"/>
              <a:t>Terminal</a:t>
            </a:r>
          </a:p>
          <a:p>
            <a:r>
              <a:rPr lang="en-US" dirty="0"/>
              <a:t>browser</a:t>
            </a:r>
          </a:p>
        </p:txBody>
      </p:sp>
    </p:spTree>
    <p:extLst>
      <p:ext uri="{BB962C8B-B14F-4D97-AF65-F5344CB8AC3E}">
        <p14:creationId xmlns:p14="http://schemas.microsoft.com/office/powerpoint/2010/main" val="30639008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110258-5A9E-B84F-8E09-EFD20BB513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Teacher demo: boot the Raspberry Pi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11C5BD-3911-9FA9-9141-BE4A1FF496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Watch for:</a:t>
            </a:r>
          </a:p>
          <a:p>
            <a:r>
              <a:rPr lang="en-US" dirty="0"/>
              <a:t>boot process </a:t>
            </a:r>
          </a:p>
          <a:p>
            <a:r>
              <a:rPr lang="en-US" dirty="0"/>
              <a:t>login or desktop </a:t>
            </a:r>
          </a:p>
          <a:p>
            <a:r>
              <a:rPr lang="en-US" dirty="0"/>
              <a:t>mouse and keyboard </a:t>
            </a:r>
          </a:p>
          <a:p>
            <a:r>
              <a:rPr lang="en-US" dirty="0"/>
              <a:t>menu and taskbar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859671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A9BC9C-169B-64E3-CC98-1A0F051819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the desktop environment?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D2E21F-4B92-ED0F-2C16-3BBA5A1F7D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visual interface of the operating system</a:t>
            </a:r>
          </a:p>
          <a:p>
            <a:r>
              <a:rPr lang="en-US" dirty="0"/>
              <a:t>includes windows, icons, menus, and apps</a:t>
            </a:r>
          </a:p>
        </p:txBody>
      </p:sp>
    </p:spTree>
    <p:extLst>
      <p:ext uri="{BB962C8B-B14F-4D97-AF65-F5344CB8AC3E}">
        <p14:creationId xmlns:p14="http://schemas.microsoft.com/office/powerpoint/2010/main" val="421222038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1AFD08-DC13-13E9-D29F-76EE88180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File manager basics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A85FE6-D3D6-FAAD-20D4-9AABB74F40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open folders</a:t>
            </a:r>
          </a:p>
          <a:p>
            <a:r>
              <a:rPr lang="en-US" dirty="0"/>
              <a:t>move through directories</a:t>
            </a:r>
          </a:p>
          <a:p>
            <a:r>
              <a:rPr lang="en-US" dirty="0"/>
              <a:t>create files</a:t>
            </a:r>
          </a:p>
          <a:p>
            <a:r>
              <a:rPr lang="en-US" dirty="0"/>
              <a:t>delete files</a:t>
            </a:r>
          </a:p>
          <a:p>
            <a:r>
              <a:rPr lang="en-US" dirty="0" err="1"/>
              <a:t>organise</a:t>
            </a:r>
            <a:r>
              <a:rPr lang="en-US" dirty="0"/>
              <a:t> work</a:t>
            </a:r>
          </a:p>
        </p:txBody>
      </p:sp>
    </p:spTree>
    <p:extLst>
      <p:ext uri="{BB962C8B-B14F-4D97-AF65-F5344CB8AC3E}">
        <p14:creationId xmlns:p14="http://schemas.microsoft.com/office/powerpoint/2010/main" val="355387674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13A081-BA8B-49B4-8E55-E428901310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file?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61C258-25F0-2A71-DE31-91729962CC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file stores information</a:t>
            </a:r>
          </a:p>
          <a:p>
            <a:pPr marL="0" indent="0">
              <a:buNone/>
            </a:pPr>
            <a:r>
              <a:rPr lang="en-US" dirty="0"/>
              <a:t>examples:</a:t>
            </a:r>
          </a:p>
          <a:p>
            <a:r>
              <a:rPr lang="en-US" dirty="0"/>
              <a:t>Image</a:t>
            </a:r>
          </a:p>
          <a:p>
            <a:r>
              <a:rPr lang="en-US" dirty="0"/>
              <a:t>text </a:t>
            </a:r>
          </a:p>
          <a:p>
            <a:r>
              <a:rPr lang="en-US" dirty="0"/>
              <a:t>Document</a:t>
            </a:r>
          </a:p>
          <a:p>
            <a:r>
              <a:rPr lang="en-US" dirty="0"/>
              <a:t>Program</a:t>
            </a:r>
          </a:p>
          <a:p>
            <a:r>
              <a:rPr lang="en-US" dirty="0"/>
              <a:t>video</a:t>
            </a:r>
          </a:p>
        </p:txBody>
      </p:sp>
    </p:spTree>
    <p:extLst>
      <p:ext uri="{BB962C8B-B14F-4D97-AF65-F5344CB8AC3E}">
        <p14:creationId xmlns:p14="http://schemas.microsoft.com/office/powerpoint/2010/main" val="86801544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52AD67-9DA8-F9AD-073A-513E41170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folder?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0D5543-C316-15DE-1E56-8B76282C37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folder contains files and sometimes other folders</a:t>
            </a:r>
          </a:p>
          <a:p>
            <a:r>
              <a:rPr lang="en-US" dirty="0"/>
              <a:t>used for </a:t>
            </a:r>
            <a:r>
              <a:rPr lang="en-US" dirty="0" err="1"/>
              <a:t>organisation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999960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5EDDB1-7A3A-60FE-46E8-A7293C2DA5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file </a:t>
            </a:r>
            <a:r>
              <a:rPr lang="en-US" dirty="0" err="1"/>
              <a:t>organisation</a:t>
            </a:r>
            <a:r>
              <a:rPr lang="en-US" dirty="0"/>
              <a:t> matters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99E559-866E-AF19-EA3F-612914D494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easier to find things</a:t>
            </a:r>
          </a:p>
          <a:p>
            <a:r>
              <a:rPr lang="en-US" dirty="0"/>
              <a:t>easier to understand projects</a:t>
            </a:r>
          </a:p>
          <a:p>
            <a:r>
              <a:rPr lang="en-US" dirty="0"/>
              <a:t>easier to share work</a:t>
            </a:r>
          </a:p>
          <a:p>
            <a:r>
              <a:rPr lang="en-US" dirty="0"/>
              <a:t>easier to avoid mistakes</a:t>
            </a:r>
          </a:p>
        </p:txBody>
      </p:sp>
    </p:spTree>
    <p:extLst>
      <p:ext uri="{BB962C8B-B14F-4D97-AF65-F5344CB8AC3E}">
        <p14:creationId xmlns:p14="http://schemas.microsoft.com/office/powerpoint/2010/main" val="187024884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06656F-1848-40F9-4C82-4AFCCECD0E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project folder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08A89D-0B5F-88BA-CA80-CC9E32CACA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err="1">
                <a:latin typeface="Courier New" panose="02070309020205020404" pitchFamily="49" charset="0"/>
              </a:rPr>
              <a:t>my_project</a:t>
            </a:r>
            <a:r>
              <a:rPr lang="en-US" dirty="0">
                <a:latin typeface="Courier New" panose="02070309020205020404" pitchFamily="49" charset="0"/>
              </a:rPr>
              <a:t>/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Courier New" panose="02070309020205020404" pitchFamily="49" charset="0"/>
              </a:rPr>
              <a:t>images/</a:t>
            </a:r>
            <a:r>
              <a:rPr lang="en-US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Courier New" panose="02070309020205020404" pitchFamily="49" charset="0"/>
              </a:rPr>
              <a:t>code/</a:t>
            </a:r>
            <a:r>
              <a:rPr lang="en-US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Courier New" panose="02070309020205020404" pitchFamily="49" charset="0"/>
              </a:rPr>
              <a:t>notes.txt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497335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0C6620-5EFF-D48D-B9C2-82F4572464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the terminal?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A8FC10-ECC5-6E58-15BD-4F68963591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text-based way to interact with the computer</a:t>
            </a:r>
          </a:p>
          <a:p>
            <a:r>
              <a:rPr lang="en-US" dirty="0"/>
              <a:t>instead of clicking, you type commands</a:t>
            </a:r>
          </a:p>
        </p:txBody>
      </p:sp>
    </p:spTree>
    <p:extLst>
      <p:ext uri="{BB962C8B-B14F-4D97-AF65-F5344CB8AC3E}">
        <p14:creationId xmlns:p14="http://schemas.microsoft.com/office/powerpoint/2010/main" val="193275024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C47F9B-5215-662F-48CC-A059218101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use the terminal?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341443-134F-124E-EF47-6C1A17380F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Fast</a:t>
            </a:r>
          </a:p>
          <a:p>
            <a:r>
              <a:rPr lang="en-US" dirty="0"/>
              <a:t>Precise</a:t>
            </a:r>
          </a:p>
          <a:p>
            <a:r>
              <a:rPr lang="en-US" dirty="0"/>
              <a:t>Powerful</a:t>
            </a:r>
          </a:p>
          <a:p>
            <a:r>
              <a:rPr lang="en-US" dirty="0"/>
              <a:t>useful for coding and system tasks</a:t>
            </a:r>
          </a:p>
          <a:p>
            <a:r>
              <a:rPr lang="en-US" dirty="0"/>
              <a:t>common in Linux environments</a:t>
            </a:r>
          </a:p>
        </p:txBody>
      </p:sp>
    </p:spTree>
    <p:extLst>
      <p:ext uri="{BB962C8B-B14F-4D97-AF65-F5344CB8AC3E}">
        <p14:creationId xmlns:p14="http://schemas.microsoft.com/office/powerpoint/2010/main" val="173729210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8838F8-F811-1B86-D952-7EC5E6CC24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Terminal is just another interface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F2DE13-F534-FEFC-6EC6-156D7807E2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GUI = graphical user interface</a:t>
            </a:r>
          </a:p>
          <a:p>
            <a:r>
              <a:rPr lang="en-US" dirty="0"/>
              <a:t>Terminal = command-line interface</a:t>
            </a:r>
          </a:p>
        </p:txBody>
      </p:sp>
    </p:spTree>
    <p:extLst>
      <p:ext uri="{BB962C8B-B14F-4D97-AF65-F5344CB8AC3E}">
        <p14:creationId xmlns:p14="http://schemas.microsoft.com/office/powerpoint/2010/main" val="277357009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AE0361-A5B5-2922-B3E7-C5ACD921A3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First terminal command: </a:t>
            </a:r>
            <a:r>
              <a:rPr lang="en-US" dirty="0" err="1"/>
              <a:t>pwd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FD8D35-E82D-BB23-8361-6E84273111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pwd</a:t>
            </a:r>
            <a:endParaRPr lang="en-US" dirty="0"/>
          </a:p>
          <a:p>
            <a:r>
              <a:rPr lang="en-US" dirty="0"/>
              <a:t>means: print working directory</a:t>
            </a:r>
          </a:p>
          <a:p>
            <a:r>
              <a:rPr lang="en-US" dirty="0"/>
              <a:t>shows where you are</a:t>
            </a:r>
          </a:p>
        </p:txBody>
      </p:sp>
    </p:spTree>
    <p:extLst>
      <p:ext uri="{BB962C8B-B14F-4D97-AF65-F5344CB8AC3E}">
        <p14:creationId xmlns:p14="http://schemas.microsoft.com/office/powerpoint/2010/main" val="74712079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5D143C-7F49-5C4C-A25C-C70E71C847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Second command: 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F36EA2-DC7A-999A-F3C8-CCDD627599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ls</a:t>
            </a:r>
          </a:p>
          <a:p>
            <a:r>
              <a:rPr lang="en-US" dirty="0"/>
              <a:t>lists files and folders</a:t>
            </a:r>
          </a:p>
        </p:txBody>
      </p:sp>
    </p:spTree>
    <p:extLst>
      <p:ext uri="{BB962C8B-B14F-4D97-AF65-F5344CB8AC3E}">
        <p14:creationId xmlns:p14="http://schemas.microsoft.com/office/powerpoint/2010/main" val="58374558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41676-00D5-938F-390A-B9E25422F7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Third command: cd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4E2A6E-7D23-EE26-3565-5BF54810B4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cd </a:t>
            </a:r>
            <a:r>
              <a:rPr lang="en-US" dirty="0" err="1"/>
              <a:t>foldername</a:t>
            </a:r>
            <a:endParaRPr lang="en-US" dirty="0"/>
          </a:p>
          <a:p>
            <a:r>
              <a:rPr lang="en-US" dirty="0"/>
              <a:t>changes directory</a:t>
            </a:r>
          </a:p>
        </p:txBody>
      </p:sp>
    </p:spTree>
    <p:extLst>
      <p:ext uri="{BB962C8B-B14F-4D97-AF65-F5344CB8AC3E}">
        <p14:creationId xmlns:p14="http://schemas.microsoft.com/office/powerpoint/2010/main" val="254365392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45584E-2BD0-5C91-F7EE-5B8336941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Fourth command: </a:t>
            </a:r>
            <a:r>
              <a:rPr lang="en-US" dirty="0" err="1"/>
              <a:t>mkdir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A1897E-AB75-4513-33E6-D23A7C4A4D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mkdir</a:t>
            </a:r>
            <a:r>
              <a:rPr lang="en-US" dirty="0"/>
              <a:t> </a:t>
            </a:r>
            <a:r>
              <a:rPr lang="en-US" dirty="0" err="1"/>
              <a:t>newfolder</a:t>
            </a:r>
            <a:endParaRPr lang="en-US" dirty="0"/>
          </a:p>
          <a:p>
            <a:r>
              <a:rPr lang="en-US" dirty="0"/>
              <a:t>makes a new folder</a:t>
            </a:r>
          </a:p>
        </p:txBody>
      </p:sp>
    </p:spTree>
    <p:extLst>
      <p:ext uri="{BB962C8B-B14F-4D97-AF65-F5344CB8AC3E}">
        <p14:creationId xmlns:p14="http://schemas.microsoft.com/office/powerpoint/2010/main" val="358558077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E219E-31D8-94A7-E8B2-7D2C87855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Fifth command: nano or text editor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FD102A-4D91-E6C2-B987-30AF865C79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open or create a text file</a:t>
            </a:r>
          </a:p>
          <a:p>
            <a:r>
              <a:rPr lang="en-US" dirty="0"/>
              <a:t>write text</a:t>
            </a:r>
          </a:p>
          <a:p>
            <a:r>
              <a:rPr lang="en-US" dirty="0"/>
              <a:t>save</a:t>
            </a:r>
          </a:p>
        </p:txBody>
      </p:sp>
    </p:spTree>
    <p:extLst>
      <p:ext uri="{BB962C8B-B14F-4D97-AF65-F5344CB8AC3E}">
        <p14:creationId xmlns:p14="http://schemas.microsoft.com/office/powerpoint/2010/main" val="423103371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AB0FE2-445E-1C92-12F9-3FCD1A35E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Teacher demo: basic terminal 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89ECE2-B819-76D9-4F14-A90D0A8739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Example:</a:t>
            </a:r>
          </a:p>
          <a:p>
            <a:r>
              <a:rPr lang="en-US" dirty="0" err="1"/>
              <a:t>pwd</a:t>
            </a:r>
            <a:endParaRPr lang="en-US" dirty="0"/>
          </a:p>
          <a:p>
            <a:r>
              <a:rPr lang="en-US" dirty="0"/>
              <a:t>Ls</a:t>
            </a:r>
          </a:p>
          <a:p>
            <a:r>
              <a:rPr lang="en-US" dirty="0" err="1"/>
              <a:t>mkdir</a:t>
            </a:r>
            <a:r>
              <a:rPr lang="en-US" dirty="0"/>
              <a:t> projects</a:t>
            </a:r>
          </a:p>
          <a:p>
            <a:r>
              <a:rPr lang="en-US" dirty="0"/>
              <a:t>cd projects</a:t>
            </a:r>
          </a:p>
          <a:p>
            <a:r>
              <a:rPr lang="en-US" dirty="0" err="1"/>
              <a:t>pwd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278757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F8F9A5-680C-4A55-1DDD-AEF68457E9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Student task: terminal practice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597486-595D-8536-1321-E3C812DB29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Task:</a:t>
            </a:r>
          </a:p>
          <a:p>
            <a:pPr>
              <a:buFont typeface="+mj-lt"/>
              <a:buAutoNum type="arabicPeriod"/>
            </a:pPr>
            <a:r>
              <a:rPr lang="en-US" dirty="0"/>
              <a:t>open terminal </a:t>
            </a:r>
          </a:p>
          <a:p>
            <a:pPr>
              <a:buFont typeface="+mj-lt"/>
              <a:buAutoNum type="arabicPeriod"/>
            </a:pPr>
            <a:r>
              <a:rPr lang="en-US" dirty="0"/>
              <a:t>run </a:t>
            </a:r>
            <a:r>
              <a:rPr lang="en-US" dirty="0" err="1">
                <a:latin typeface="Courier New" panose="02070309020205020404" pitchFamily="49" charset="0"/>
              </a:rPr>
              <a:t>pwd</a:t>
            </a:r>
            <a:r>
              <a:rPr lang="en-US" dirty="0"/>
              <a:t> </a:t>
            </a:r>
          </a:p>
          <a:p>
            <a:pPr>
              <a:buFont typeface="+mj-lt"/>
              <a:buAutoNum type="arabicPeriod"/>
            </a:pPr>
            <a:r>
              <a:rPr lang="en-US" dirty="0"/>
              <a:t>run </a:t>
            </a:r>
            <a:r>
              <a:rPr lang="en-US" dirty="0">
                <a:latin typeface="Courier New" panose="02070309020205020404" pitchFamily="49" charset="0"/>
              </a:rPr>
              <a:t>ls</a:t>
            </a:r>
            <a:r>
              <a:rPr lang="en-US" dirty="0"/>
              <a:t> </a:t>
            </a:r>
          </a:p>
          <a:p>
            <a:pPr>
              <a:buFont typeface="+mj-lt"/>
              <a:buAutoNum type="arabicPeriod"/>
            </a:pPr>
            <a:r>
              <a:rPr lang="en-US" dirty="0"/>
              <a:t>create a folder called </a:t>
            </a:r>
            <a:r>
              <a:rPr lang="en-US" dirty="0">
                <a:latin typeface="Courier New" panose="02070309020205020404" pitchFamily="49" charset="0"/>
              </a:rPr>
              <a:t>day3</a:t>
            </a:r>
            <a:r>
              <a:rPr lang="en-US" dirty="0"/>
              <a:t> </a:t>
            </a:r>
          </a:p>
          <a:p>
            <a:pPr>
              <a:buFont typeface="+mj-lt"/>
              <a:buAutoNum type="arabicPeriod"/>
            </a:pPr>
            <a:r>
              <a:rPr lang="en-US" dirty="0"/>
              <a:t>enter it using </a:t>
            </a:r>
            <a:r>
              <a:rPr lang="en-US" dirty="0">
                <a:latin typeface="Courier New" panose="02070309020205020404" pitchFamily="49" charset="0"/>
              </a:rPr>
              <a:t>cd day3</a:t>
            </a:r>
            <a:r>
              <a:rPr lang="en-US" dirty="0"/>
              <a:t> </a:t>
            </a:r>
          </a:p>
          <a:p>
            <a:pPr>
              <a:buFont typeface="+mj-lt"/>
              <a:buAutoNum type="arabicPeriod"/>
            </a:pPr>
            <a:r>
              <a:rPr lang="en-US" dirty="0"/>
              <a:t>run </a:t>
            </a:r>
            <a:r>
              <a:rPr lang="en-US" dirty="0" err="1">
                <a:latin typeface="Courier New" panose="02070309020205020404" pitchFamily="49" charset="0"/>
              </a:rPr>
              <a:t>pwd</a:t>
            </a:r>
            <a:r>
              <a:rPr lang="en-US" dirty="0"/>
              <a:t> again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022748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F2732E-E046-797A-060F-2C5E3FDF91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terminal mistakes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F752F4-17DD-8F0E-715E-45504D36F7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spelling errors</a:t>
            </a:r>
          </a:p>
          <a:p>
            <a:r>
              <a:rPr lang="en-US" dirty="0"/>
              <a:t>wrong folder name</a:t>
            </a:r>
          </a:p>
          <a:p>
            <a:r>
              <a:rPr lang="en-US" dirty="0"/>
              <a:t>using spaces incorrectly</a:t>
            </a:r>
          </a:p>
          <a:p>
            <a:r>
              <a:rPr lang="en-US" dirty="0"/>
              <a:t>being in the wrong directory</a:t>
            </a:r>
          </a:p>
        </p:txBody>
      </p:sp>
    </p:spTree>
    <p:extLst>
      <p:ext uri="{BB962C8B-B14F-4D97-AF65-F5344CB8AC3E}">
        <p14:creationId xmlns:p14="http://schemas.microsoft.com/office/powerpoint/2010/main" val="296098996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B0F29D-F5D4-7C58-F1DC-BAD1D4481A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the terminal matters in real life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F6A4EA-4D23-F907-9F71-1FDC373423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Development</a:t>
            </a:r>
          </a:p>
          <a:p>
            <a:r>
              <a:rPr lang="en-US" dirty="0"/>
              <a:t>Linux servers</a:t>
            </a:r>
          </a:p>
          <a:p>
            <a:r>
              <a:rPr lang="en-US" dirty="0"/>
              <a:t>cloud systems</a:t>
            </a:r>
          </a:p>
          <a:p>
            <a:r>
              <a:rPr lang="en-US" dirty="0"/>
              <a:t>Cybersecurity</a:t>
            </a:r>
          </a:p>
          <a:p>
            <a:r>
              <a:rPr lang="en-US" dirty="0"/>
              <a:t>Raspberry Pi projects</a:t>
            </a:r>
          </a:p>
        </p:txBody>
      </p:sp>
    </p:spTree>
    <p:extLst>
      <p:ext uri="{BB962C8B-B14F-4D97-AF65-F5344CB8AC3E}">
        <p14:creationId xmlns:p14="http://schemas.microsoft.com/office/powerpoint/2010/main" val="376738265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31774-A6DF-3B01-4231-6CD175A6FA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Raspberry Pi and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919D0-8F3B-16F2-AF0E-BF0E9338D5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Raspberry Pi is great for Python</a:t>
            </a:r>
          </a:p>
          <a:p>
            <a:r>
              <a:rPr lang="en-US" dirty="0"/>
              <a:t>Python is beginner-friendly and powerful</a:t>
            </a:r>
          </a:p>
          <a:p>
            <a:r>
              <a:rPr lang="en-US" dirty="0"/>
              <a:t>useful for automation, projects, and hardware control</a:t>
            </a:r>
          </a:p>
        </p:txBody>
      </p:sp>
    </p:spTree>
    <p:extLst>
      <p:ext uri="{BB962C8B-B14F-4D97-AF65-F5344CB8AC3E}">
        <p14:creationId xmlns:p14="http://schemas.microsoft.com/office/powerpoint/2010/main" val="156523514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6EBA8B-0EF5-E4E5-826D-6B098FB259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Tiny Python example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F47A9D-8001-FFCE-1837-EA01FAAF08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2591" y="2691203"/>
            <a:ext cx="5106113" cy="1295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812263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6335F-5411-65E1-0458-E81F05418E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Teacher demo: run a small Python file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2017D-44A3-5C5A-5914-13B2873A32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Steps:</a:t>
            </a:r>
          </a:p>
          <a:p>
            <a:pPr>
              <a:buFont typeface="+mj-lt"/>
              <a:buAutoNum type="arabicPeriod"/>
            </a:pPr>
            <a:r>
              <a:rPr lang="en-US" dirty="0"/>
              <a:t>open editor </a:t>
            </a:r>
          </a:p>
          <a:p>
            <a:pPr>
              <a:buFont typeface="+mj-lt"/>
              <a:buAutoNum type="arabicPeriod"/>
            </a:pPr>
            <a:r>
              <a:rPr lang="en-US" dirty="0"/>
              <a:t>write simple Python code </a:t>
            </a:r>
          </a:p>
          <a:p>
            <a:pPr>
              <a:buFont typeface="+mj-lt"/>
              <a:buAutoNum type="arabicPeriod"/>
            </a:pPr>
            <a:r>
              <a:rPr lang="en-US" dirty="0"/>
              <a:t>save file </a:t>
            </a:r>
          </a:p>
          <a:p>
            <a:pPr>
              <a:buFont typeface="+mj-lt"/>
              <a:buAutoNum type="arabicPeriod"/>
            </a:pPr>
            <a:r>
              <a:rPr lang="en-US" dirty="0"/>
              <a:t>run it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221601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563E1B-70C6-BD1C-FA85-B05751F7FF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GPIO means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5A8BE8-8231-9807-4339-038FA72E5C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GPIO = General Purpose Input/Output</a:t>
            </a:r>
          </a:p>
          <a:p>
            <a:r>
              <a:rPr lang="en-US" dirty="0"/>
              <a:t>pins that allow Raspberry Pi to interact with hardware</a:t>
            </a:r>
          </a:p>
        </p:txBody>
      </p:sp>
    </p:spTree>
    <p:extLst>
      <p:ext uri="{BB962C8B-B14F-4D97-AF65-F5344CB8AC3E}">
        <p14:creationId xmlns:p14="http://schemas.microsoft.com/office/powerpoint/2010/main" val="34168892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FDED1-F303-539C-C137-50524F8963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Raspberry Pi can also do electronics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0A994D-A5B4-D0DC-D44A-C01B90ABE0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read buttons</a:t>
            </a:r>
          </a:p>
          <a:p>
            <a:r>
              <a:rPr lang="en-US" dirty="0"/>
              <a:t>control LEDs</a:t>
            </a:r>
          </a:p>
          <a:p>
            <a:r>
              <a:rPr lang="en-US" dirty="0"/>
              <a:t>use sensors</a:t>
            </a:r>
          </a:p>
          <a:p>
            <a:r>
              <a:rPr lang="en-US" dirty="0"/>
              <a:t>connect to other devices</a:t>
            </a:r>
          </a:p>
        </p:txBody>
      </p:sp>
    </p:spTree>
    <p:extLst>
      <p:ext uri="{BB962C8B-B14F-4D97-AF65-F5344CB8AC3E}">
        <p14:creationId xmlns:p14="http://schemas.microsoft.com/office/powerpoint/2010/main" val="22014396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FA85D-2CEE-F9D6-8F15-6053A0632C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Then why not always use Raspberry Pi instead of Arduino?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621EB8-AA37-60AE-CD91-96D4418962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877185"/>
            <a:ext cx="4373880" cy="2718943"/>
          </a:xfrm>
        </p:spPr>
        <p:txBody>
          <a:bodyPr/>
          <a:lstStyle/>
          <a:p>
            <a:pPr>
              <a:buNone/>
            </a:pPr>
            <a:r>
              <a:rPr lang="en-US" dirty="0"/>
              <a:t>Arduino: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simpler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better for basic control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starts quickly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6E36589-3384-3CCC-3288-991D2A5941EC}"/>
              </a:ext>
            </a:extLst>
          </p:cNvPr>
          <p:cNvSpPr txBox="1">
            <a:spLocks/>
          </p:cNvSpPr>
          <p:nvPr/>
        </p:nvSpPr>
        <p:spPr>
          <a:xfrm>
            <a:off x="6595872" y="2877185"/>
            <a:ext cx="4373880" cy="25391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dirty="0"/>
              <a:t>Raspberry Pi:</a:t>
            </a:r>
          </a:p>
          <a:p>
            <a:r>
              <a:rPr lang="en-US" dirty="0"/>
              <a:t>more powerful </a:t>
            </a:r>
          </a:p>
          <a:p>
            <a:r>
              <a:rPr lang="en-US" dirty="0"/>
              <a:t>more complex </a:t>
            </a:r>
          </a:p>
          <a:p>
            <a:r>
              <a:rPr lang="en-US" dirty="0"/>
              <a:t>better for full systems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066402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6CCBF-43BA-26C1-1526-B4D61476EE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Choosing the right tool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ACB3C4-6161-9344-CF79-274E75DB38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831080" cy="435133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dirty="0"/>
              <a:t>Use Arduino for: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simple sensor project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traffic light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reaction game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buzzer and LEDs </a:t>
            </a:r>
          </a:p>
          <a:p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DACC735-88DE-4158-F944-09D3A3D3BFDF}"/>
              </a:ext>
            </a:extLst>
          </p:cNvPr>
          <p:cNvSpPr txBox="1">
            <a:spLocks/>
          </p:cNvSpPr>
          <p:nvPr/>
        </p:nvSpPr>
        <p:spPr>
          <a:xfrm>
            <a:off x="5818632" y="1825625"/>
            <a:ext cx="483108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dirty="0"/>
              <a:t>Use Raspberry Pi for:</a:t>
            </a:r>
          </a:p>
          <a:p>
            <a:r>
              <a:rPr lang="en-US" dirty="0"/>
              <a:t>media </a:t>
            </a:r>
            <a:r>
              <a:rPr lang="en-US" dirty="0" err="1"/>
              <a:t>centre</a:t>
            </a:r>
            <a:r>
              <a:rPr lang="en-US" dirty="0"/>
              <a:t> </a:t>
            </a:r>
          </a:p>
          <a:p>
            <a:r>
              <a:rPr lang="en-US" dirty="0"/>
              <a:t>server </a:t>
            </a:r>
          </a:p>
          <a:p>
            <a:r>
              <a:rPr lang="en-US" dirty="0"/>
              <a:t>smart home hub </a:t>
            </a:r>
          </a:p>
          <a:p>
            <a:r>
              <a:rPr lang="en-US" dirty="0"/>
              <a:t>coding platform </a:t>
            </a:r>
          </a:p>
          <a:p>
            <a:r>
              <a:rPr lang="en-US" dirty="0"/>
              <a:t>more advanced integrated projects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193221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B88AF-A78C-7D11-011A-32A0D2C41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Raspberry Pi project ideas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4C922B-2B07-C2D3-EDF8-CA4992AD28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mini web server</a:t>
            </a:r>
          </a:p>
          <a:p>
            <a:r>
              <a:rPr lang="en-US" dirty="0"/>
              <a:t>weather station</a:t>
            </a:r>
          </a:p>
          <a:p>
            <a:r>
              <a:rPr lang="en-US" dirty="0"/>
              <a:t>smart mirror</a:t>
            </a:r>
          </a:p>
          <a:p>
            <a:r>
              <a:rPr lang="en-US" dirty="0"/>
              <a:t>retro gaming system</a:t>
            </a:r>
          </a:p>
          <a:p>
            <a:r>
              <a:rPr lang="en-US" dirty="0"/>
              <a:t>home automation hub</a:t>
            </a:r>
          </a:p>
          <a:p>
            <a:r>
              <a:rPr lang="en-US" dirty="0"/>
              <a:t>digital photo frame</a:t>
            </a:r>
          </a:p>
          <a:p>
            <a:r>
              <a:rPr lang="en-US" dirty="0"/>
              <a:t>classroom notice board</a:t>
            </a:r>
          </a:p>
        </p:txBody>
      </p:sp>
    </p:spTree>
    <p:extLst>
      <p:ext uri="{BB962C8B-B14F-4D97-AF65-F5344CB8AC3E}">
        <p14:creationId xmlns:p14="http://schemas.microsoft.com/office/powerpoint/2010/main" val="266609758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CFCA69-F766-03B2-4E2B-874BC770D0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Raspberry Pi in education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2979F3-A382-9EFA-C39C-0CB46CCECD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Coding</a:t>
            </a:r>
          </a:p>
          <a:p>
            <a:r>
              <a:rPr lang="en-US" dirty="0"/>
              <a:t>Linux basics</a:t>
            </a:r>
          </a:p>
          <a:p>
            <a:r>
              <a:rPr lang="en-US" dirty="0"/>
              <a:t>hardware interaction</a:t>
            </a:r>
          </a:p>
          <a:p>
            <a:r>
              <a:rPr lang="en-US" dirty="0"/>
              <a:t>networking ideas</a:t>
            </a:r>
          </a:p>
          <a:p>
            <a:r>
              <a:rPr lang="en-US" dirty="0"/>
              <a:t>problem-solving</a:t>
            </a:r>
          </a:p>
          <a:p>
            <a:r>
              <a:rPr lang="en-US" dirty="0"/>
              <a:t>project building</a:t>
            </a:r>
          </a:p>
        </p:txBody>
      </p:sp>
    </p:spTree>
    <p:extLst>
      <p:ext uri="{BB962C8B-B14F-4D97-AF65-F5344CB8AC3E}">
        <p14:creationId xmlns:p14="http://schemas.microsoft.com/office/powerpoint/2010/main" val="175506349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DC6098-C387-8C92-67CB-A75F9123BE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Raspberry Pi in real industries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B45589-616C-CE36-1C9D-8279B3AF6A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Prototyping</a:t>
            </a:r>
          </a:p>
          <a:p>
            <a:r>
              <a:rPr lang="en-US" dirty="0"/>
              <a:t>Automation</a:t>
            </a:r>
          </a:p>
          <a:p>
            <a:r>
              <a:rPr lang="en-US" dirty="0"/>
              <a:t>monitoring systems</a:t>
            </a:r>
          </a:p>
          <a:p>
            <a:r>
              <a:rPr lang="en-US" dirty="0"/>
              <a:t>IoT</a:t>
            </a:r>
          </a:p>
          <a:p>
            <a:r>
              <a:rPr lang="en-US" dirty="0"/>
              <a:t>embedded projects</a:t>
            </a:r>
          </a:p>
          <a:p>
            <a:r>
              <a:rPr lang="en-US" dirty="0"/>
              <a:t>digital displays</a:t>
            </a:r>
          </a:p>
        </p:txBody>
      </p:sp>
    </p:spTree>
    <p:extLst>
      <p:ext uri="{BB962C8B-B14F-4D97-AF65-F5344CB8AC3E}">
        <p14:creationId xmlns:p14="http://schemas.microsoft.com/office/powerpoint/2010/main" val="242286871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9EC70-F2E5-48D7-12FD-5FB5977C72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Activity: Arduino or Raspberry Pi?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37B217-5372-BB03-8E4B-DA3DCA6356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Which would you choose for: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traffic light controller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home media </a:t>
            </a:r>
            <a:r>
              <a:rPr lang="en-US" dirty="0" err="1"/>
              <a:t>centre</a:t>
            </a:r>
            <a:r>
              <a:rPr lang="en-US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web server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plant watering system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smart classroom dashboard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simple alarm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27328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A8759-2C40-E943-0E4C-0816120722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Activity answers discussion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4C1F8C-9A82-8516-505A-EE7784BA94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Possible </a:t>
            </a:r>
            <a:r>
              <a:rPr lang="en-US" dirty="0" err="1"/>
              <a:t>answers:traffic</a:t>
            </a:r>
            <a:r>
              <a:rPr lang="en-US" dirty="0"/>
              <a:t> light controller → Arduino</a:t>
            </a:r>
          </a:p>
          <a:p>
            <a:r>
              <a:rPr lang="en-US" dirty="0"/>
              <a:t>media </a:t>
            </a:r>
            <a:r>
              <a:rPr lang="en-US" dirty="0" err="1"/>
              <a:t>centre</a:t>
            </a:r>
            <a:r>
              <a:rPr lang="en-US" dirty="0"/>
              <a:t> → Raspberry Pi</a:t>
            </a:r>
          </a:p>
          <a:p>
            <a:r>
              <a:rPr lang="en-US" dirty="0"/>
              <a:t>web server → Raspberry Pi</a:t>
            </a:r>
          </a:p>
          <a:p>
            <a:r>
              <a:rPr lang="en-US" dirty="0"/>
              <a:t>plant watering system → Arduino or both</a:t>
            </a:r>
          </a:p>
          <a:p>
            <a:r>
              <a:rPr lang="en-US" dirty="0"/>
              <a:t>dashboard → Raspberry Pi</a:t>
            </a:r>
          </a:p>
          <a:p>
            <a:r>
              <a:rPr lang="en-US" dirty="0"/>
              <a:t>simple alarm → Arduino</a:t>
            </a:r>
          </a:p>
        </p:txBody>
      </p:sp>
    </p:spTree>
    <p:extLst>
      <p:ext uri="{BB962C8B-B14F-4D97-AF65-F5344CB8AC3E}">
        <p14:creationId xmlns:p14="http://schemas.microsoft.com/office/powerpoint/2010/main" val="28529237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FDEBBC-8ACC-BC80-F3C4-DC075CE0AA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Raspberry Pi and the internet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525674-2A76-7D17-F946-A7C57AF4A1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connect to Wi-Fi or Ethernet</a:t>
            </a:r>
          </a:p>
          <a:p>
            <a:r>
              <a:rPr lang="en-US" dirty="0"/>
              <a:t>browse the web</a:t>
            </a:r>
          </a:p>
          <a:p>
            <a:r>
              <a:rPr lang="en-US" dirty="0"/>
              <a:t>download software</a:t>
            </a:r>
          </a:p>
          <a:p>
            <a:r>
              <a:rPr lang="en-US" dirty="0"/>
              <a:t>run network-based projects</a:t>
            </a:r>
          </a:p>
        </p:txBody>
      </p:sp>
    </p:spTree>
    <p:extLst>
      <p:ext uri="{BB962C8B-B14F-4D97-AF65-F5344CB8AC3E}">
        <p14:creationId xmlns:p14="http://schemas.microsoft.com/office/powerpoint/2010/main" val="161657222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8BD802-29F1-9B7A-D70B-13683199BA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Raspberry Pi can be a server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C8F54F-C82F-3208-7B34-558D29A04A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can host files or services</a:t>
            </a:r>
          </a:p>
          <a:p>
            <a:r>
              <a:rPr lang="en-US" dirty="0"/>
              <a:t>can run apps for other devices</a:t>
            </a:r>
          </a:p>
          <a:p>
            <a:r>
              <a:rPr lang="en-US" dirty="0"/>
              <a:t>can act as a simple web server</a:t>
            </a:r>
          </a:p>
        </p:txBody>
      </p:sp>
    </p:spTree>
    <p:extLst>
      <p:ext uri="{BB962C8B-B14F-4D97-AF65-F5344CB8AC3E}">
        <p14:creationId xmlns:p14="http://schemas.microsoft.com/office/powerpoint/2010/main" val="85507350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5BAEBB-49EF-2820-AD59-1B43DB5A6F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Raspberry Pi and cybersecurity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47223C-C613-4A83-6AA4-C64FEB18F7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Linux practice</a:t>
            </a:r>
          </a:p>
          <a:p>
            <a:r>
              <a:rPr lang="en-US" dirty="0"/>
              <a:t>networking practice</a:t>
            </a:r>
          </a:p>
          <a:p>
            <a:r>
              <a:rPr lang="en-US" dirty="0"/>
              <a:t>Scripting</a:t>
            </a:r>
          </a:p>
          <a:p>
            <a:r>
              <a:rPr lang="en-US" dirty="0"/>
              <a:t>basic server ideas</a:t>
            </a:r>
          </a:p>
        </p:txBody>
      </p:sp>
    </p:spTree>
    <p:extLst>
      <p:ext uri="{BB962C8B-B14F-4D97-AF65-F5344CB8AC3E}">
        <p14:creationId xmlns:p14="http://schemas.microsoft.com/office/powerpoint/2010/main" val="411827866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6666A-5F4C-7286-3FF5-80B4761F89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Raspberry Pi and robotics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6E22D1-86B4-4E0C-6854-FA87EA1F7E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combine code, sensors, motors, and logic</a:t>
            </a:r>
          </a:p>
          <a:p>
            <a:r>
              <a:rPr lang="en-US" dirty="0"/>
              <a:t>can act as the ‘brain’ of more complex projects</a:t>
            </a:r>
          </a:p>
        </p:txBody>
      </p:sp>
    </p:spTree>
    <p:extLst>
      <p:ext uri="{BB962C8B-B14F-4D97-AF65-F5344CB8AC3E}">
        <p14:creationId xmlns:p14="http://schemas.microsoft.com/office/powerpoint/2010/main" val="155719274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AC8B0B-6BDD-C1EB-066E-D26141371E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Raspberry Pi and AI projects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690428-9157-4BE7-9928-24031BECCA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simple local AI demos</a:t>
            </a:r>
          </a:p>
          <a:p>
            <a:r>
              <a:rPr lang="en-US" dirty="0"/>
              <a:t>computer vision experiments</a:t>
            </a:r>
          </a:p>
          <a:p>
            <a:r>
              <a:rPr lang="en-US" dirty="0"/>
              <a:t>data collection</a:t>
            </a:r>
          </a:p>
          <a:p>
            <a:r>
              <a:rPr lang="en-US" dirty="0"/>
              <a:t>automation scripts</a:t>
            </a:r>
          </a:p>
        </p:txBody>
      </p:sp>
    </p:spTree>
    <p:extLst>
      <p:ext uri="{BB962C8B-B14F-4D97-AF65-F5344CB8AC3E}">
        <p14:creationId xmlns:p14="http://schemas.microsoft.com/office/powerpoint/2010/main" val="316695932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44E68E-03E3-D485-0592-5D4BB584E3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we learned today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424CDC-98B4-B1AB-3464-FB84719833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Today we explored:</a:t>
            </a:r>
          </a:p>
          <a:p>
            <a:r>
              <a:rPr lang="en-US" dirty="0"/>
              <a:t>Raspberry Pi as a mini-computer</a:t>
            </a:r>
          </a:p>
          <a:p>
            <a:r>
              <a:rPr lang="en-US" dirty="0"/>
              <a:t>Linux basics</a:t>
            </a:r>
          </a:p>
          <a:p>
            <a:r>
              <a:rPr lang="en-US" dirty="0"/>
              <a:t>files and folders</a:t>
            </a:r>
          </a:p>
          <a:p>
            <a:r>
              <a:rPr lang="en-US" dirty="0"/>
              <a:t>terminal basics</a:t>
            </a:r>
          </a:p>
          <a:p>
            <a:r>
              <a:rPr lang="en-US" dirty="0"/>
              <a:t>Raspberry Pi vs Arduino</a:t>
            </a:r>
          </a:p>
          <a:p>
            <a:r>
              <a:rPr lang="en-US" dirty="0"/>
              <a:t>Raspberry Pi project ideas</a:t>
            </a:r>
          </a:p>
        </p:txBody>
      </p:sp>
    </p:spTree>
    <p:extLst>
      <p:ext uri="{BB962C8B-B14F-4D97-AF65-F5344CB8AC3E}">
        <p14:creationId xmlns:p14="http://schemas.microsoft.com/office/powerpoint/2010/main" val="172591350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3ACE9-11BE-5733-F76D-1EB476F04C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vocabulary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FCAE93-BED0-8EB5-BD11-1251BD7764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Raspberry Pi</a:t>
            </a:r>
          </a:p>
          <a:p>
            <a:r>
              <a:rPr lang="en-US" dirty="0"/>
              <a:t>single-board computer</a:t>
            </a:r>
          </a:p>
          <a:p>
            <a:r>
              <a:rPr lang="en-US" dirty="0"/>
              <a:t>operating system</a:t>
            </a:r>
          </a:p>
          <a:p>
            <a:r>
              <a:rPr lang="en-US" dirty="0"/>
              <a:t>Linux</a:t>
            </a:r>
          </a:p>
          <a:p>
            <a:r>
              <a:rPr lang="en-US" dirty="0"/>
              <a:t>Terminal</a:t>
            </a:r>
          </a:p>
          <a:p>
            <a:r>
              <a:rPr lang="en-US" dirty="0"/>
              <a:t>Directory</a:t>
            </a:r>
          </a:p>
          <a:p>
            <a:r>
              <a:rPr lang="en-US" dirty="0"/>
              <a:t>File</a:t>
            </a:r>
          </a:p>
          <a:p>
            <a:r>
              <a:rPr lang="en-US" dirty="0"/>
              <a:t>Folder</a:t>
            </a:r>
          </a:p>
          <a:p>
            <a:r>
              <a:rPr lang="en-US" dirty="0"/>
              <a:t>GPIO</a:t>
            </a:r>
          </a:p>
        </p:txBody>
      </p:sp>
    </p:spTree>
    <p:extLst>
      <p:ext uri="{BB962C8B-B14F-4D97-AF65-F5344CB8AC3E}">
        <p14:creationId xmlns:p14="http://schemas.microsoft.com/office/powerpoint/2010/main" val="121926609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70FC25-80DE-9C76-A4B5-8CA20D640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 recap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975AD4-9A3B-5D86-AA33-061981A72D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is Raspberry Pi?</a:t>
            </a:r>
          </a:p>
          <a:p>
            <a:r>
              <a:rPr lang="en-US" dirty="0"/>
              <a:t>What is the difference between Raspberry Pi and Arduino?</a:t>
            </a:r>
          </a:p>
          <a:p>
            <a:r>
              <a:rPr lang="en-US" dirty="0"/>
              <a:t>What is an operating system?</a:t>
            </a:r>
          </a:p>
          <a:p>
            <a:r>
              <a:rPr lang="en-US" dirty="0"/>
              <a:t>What does </a:t>
            </a:r>
            <a:r>
              <a:rPr lang="en-US" dirty="0" err="1"/>
              <a:t>pwd</a:t>
            </a:r>
            <a:r>
              <a:rPr lang="en-US" dirty="0"/>
              <a:t> do?</a:t>
            </a:r>
          </a:p>
          <a:p>
            <a:r>
              <a:rPr lang="en-US" dirty="0"/>
              <a:t>What does ls do?</a:t>
            </a:r>
          </a:p>
          <a:p>
            <a:r>
              <a:rPr lang="en-US" dirty="0"/>
              <a:t>What does cd do?</a:t>
            </a:r>
          </a:p>
          <a:p>
            <a:r>
              <a:rPr lang="en-US" dirty="0"/>
              <a:t>What does GPIO mean?</a:t>
            </a:r>
          </a:p>
        </p:txBody>
      </p:sp>
    </p:spTree>
    <p:extLst>
      <p:ext uri="{BB962C8B-B14F-4D97-AF65-F5344CB8AC3E}">
        <p14:creationId xmlns:p14="http://schemas.microsoft.com/office/powerpoint/2010/main" val="107391887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FD015F-E0A0-8E6B-5545-107EE7900B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Tomorrow’s connection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7F75CF-D713-FE89-5439-9CC7CB6E2E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Tomorrow: GitHub and project planning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saving and sharing work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repositories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README files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preparing final projects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302672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29D763-B477-D4E5-6A0A-253D12B8E7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BONUS SLIDES — Why small computers matter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93AC93-D215-F6C5-9CE4-ADD0FDDB37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Cheaper</a:t>
            </a:r>
          </a:p>
          <a:p>
            <a:r>
              <a:rPr lang="en-US" dirty="0"/>
              <a:t>lower energy use</a:t>
            </a:r>
          </a:p>
          <a:p>
            <a:r>
              <a:rPr lang="en-US" dirty="0"/>
              <a:t>easier to dedicate to one project</a:t>
            </a:r>
          </a:p>
          <a:p>
            <a:r>
              <a:rPr lang="en-US" dirty="0"/>
              <a:t>useful for experimentation</a:t>
            </a:r>
          </a:p>
        </p:txBody>
      </p:sp>
    </p:spTree>
    <p:extLst>
      <p:ext uri="{BB962C8B-B14F-4D97-AF65-F5344CB8AC3E}">
        <p14:creationId xmlns:p14="http://schemas.microsoft.com/office/powerpoint/2010/main" val="364559671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C4D3FC-5F24-889D-721B-15CBFE54EC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Graphical interface vs terminal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1B42BF-672A-5BE6-E14A-ACDAFC91EC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Graphical: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easy to click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more visual </a:t>
            </a:r>
          </a:p>
          <a:p>
            <a:pPr>
              <a:buNone/>
            </a:pPr>
            <a:r>
              <a:rPr lang="en-US" dirty="0"/>
              <a:t>Terminal: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fast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powerful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common in technical work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285266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03A0B-BC51-3E3A-C72B-395CD4C6EE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of a project folder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5CE960-ECCC-DD47-FD93-19AD1F5156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err="1">
                <a:latin typeface="Courier New" panose="02070309020205020404" pitchFamily="49" charset="0"/>
              </a:rPr>
              <a:t>raspberry_pi_project</a:t>
            </a:r>
            <a:r>
              <a:rPr lang="en-US" dirty="0">
                <a:latin typeface="Courier New" panose="02070309020205020404" pitchFamily="49" charset="0"/>
              </a:rPr>
              <a:t>/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Courier New" panose="02070309020205020404" pitchFamily="49" charset="0"/>
              </a:rPr>
              <a:t>code/</a:t>
            </a:r>
            <a:r>
              <a:rPr lang="en-US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Courier New" panose="02070309020205020404" pitchFamily="49" charset="0"/>
              </a:rPr>
              <a:t>images/</a:t>
            </a:r>
            <a:r>
              <a:rPr lang="en-US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Courier New" panose="02070309020205020404" pitchFamily="49" charset="0"/>
              </a:rPr>
              <a:t>notes/</a:t>
            </a:r>
            <a:r>
              <a:rPr lang="en-US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Courier New" panose="02070309020205020404" pitchFamily="49" charset="0"/>
              </a:rPr>
              <a:t>README.txt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8274063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DB3F6E-D71A-5676-F41C-4FB95C948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student fears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738E81-0308-3358-2137-0634EBB2DD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“Linux looks hard”</a:t>
            </a:r>
          </a:p>
          <a:p>
            <a:r>
              <a:rPr lang="en-US" dirty="0"/>
              <a:t>“Terminal looks scary”</a:t>
            </a:r>
          </a:p>
          <a:p>
            <a:r>
              <a:rPr lang="en-US" dirty="0"/>
              <a:t>“I’ll break something”</a:t>
            </a:r>
          </a:p>
        </p:txBody>
      </p:sp>
    </p:spTree>
    <p:extLst>
      <p:ext uri="{BB962C8B-B14F-4D97-AF65-F5344CB8AC3E}">
        <p14:creationId xmlns:p14="http://schemas.microsoft.com/office/powerpoint/2010/main" val="191306354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933FF1-5ABB-0C07-2339-DBFDE0D2FB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makes Raspberry Pi fun?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4AB16F-C04F-2300-FDC0-3DDE91B8A7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small but powerful</a:t>
            </a:r>
          </a:p>
          <a:p>
            <a:r>
              <a:rPr lang="en-US" dirty="0"/>
              <a:t>can behave like a desktop</a:t>
            </a:r>
          </a:p>
          <a:p>
            <a:r>
              <a:rPr lang="en-US" dirty="0"/>
              <a:t>can connect to hardware</a:t>
            </a:r>
          </a:p>
          <a:p>
            <a:r>
              <a:rPr lang="en-US" dirty="0"/>
              <a:t>supports creative projects</a:t>
            </a:r>
          </a:p>
        </p:txBody>
      </p:sp>
    </p:spTree>
    <p:extLst>
      <p:ext uri="{BB962C8B-B14F-4D97-AF65-F5344CB8AC3E}">
        <p14:creationId xmlns:p14="http://schemas.microsoft.com/office/powerpoint/2010/main" val="4154668693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F24EC-0844-BAF9-5668-27530A85B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End of Day 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707449-97BC-C592-03DA-119BA55F47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Well done.</a:t>
            </a:r>
          </a:p>
          <a:p>
            <a:r>
              <a:rPr lang="en-US" dirty="0"/>
              <a:t>Today you explored a real mini-computer.</a:t>
            </a:r>
          </a:p>
        </p:txBody>
      </p:sp>
    </p:spTree>
    <p:extLst>
      <p:ext uri="{BB962C8B-B14F-4D97-AF65-F5344CB8AC3E}">
        <p14:creationId xmlns:p14="http://schemas.microsoft.com/office/powerpoint/2010/main" val="63533015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1D6D8C-9EEA-856B-11CF-39B47CD63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15A9CB-2BAB-12FE-339A-7297425BBC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941878-EDFD-1302-0500-647F12A158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61748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3612</TotalTime>
  <Words>1471</Words>
  <Application>Microsoft Office PowerPoint</Application>
  <PresentationFormat>Widescreen</PresentationFormat>
  <Paragraphs>413</Paragraphs>
  <Slides>69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69</vt:i4>
      </vt:variant>
    </vt:vector>
  </HeadingPairs>
  <TitlesOfParts>
    <vt:vector size="74" baseType="lpstr">
      <vt:lpstr>Arial</vt:lpstr>
      <vt:lpstr>Calibri</vt:lpstr>
      <vt:lpstr>Calibri Light</vt:lpstr>
      <vt:lpstr>Courier New</vt:lpstr>
      <vt:lpstr>Office Theme</vt:lpstr>
      <vt:lpstr>RASPBERRY PI 5, LINUX BASICS, TERMINAL, AND PROJECT IDEAS</vt:lpstr>
      <vt:lpstr>Welcome to Day 3</vt:lpstr>
      <vt:lpstr>What we have done so far</vt:lpstr>
      <vt:lpstr>What you will learn today</vt:lpstr>
      <vt:lpstr>Quick starter question</vt:lpstr>
      <vt:lpstr>What is Raspberry Pi?</vt:lpstr>
      <vt:lpstr>What makes Raspberry Pi special?</vt:lpstr>
      <vt:lpstr>Raspberry Pi 5 in simple words</vt:lpstr>
      <vt:lpstr>Raspberry Pi is not the same as Arduino</vt:lpstr>
      <vt:lpstr>Arduino vs Raspberry Pi</vt:lpstr>
      <vt:lpstr>Scenario Best tool </vt:lpstr>
      <vt:lpstr>Raspberry Pi vs a normal laptop</vt:lpstr>
      <vt:lpstr>Examples of Raspberry Pi uses</vt:lpstr>
      <vt:lpstr>Why people love Raspberry Pi</vt:lpstr>
      <vt:lpstr>What is a single-board computer?</vt:lpstr>
      <vt:lpstr>Main hardware parts on Raspberry Pi 5</vt:lpstr>
      <vt:lpstr>What do you need to use Raspberry Pi?</vt:lpstr>
      <vt:lpstr>What is an operating system?</vt:lpstr>
      <vt:lpstr>Raspberry Pi usually runs Linux</vt:lpstr>
      <vt:lpstr>What is Linux?</vt:lpstr>
      <vt:lpstr>Why learn a bit of Linux?</vt:lpstr>
      <vt:lpstr>Raspberry Pi desktop</vt:lpstr>
      <vt:lpstr>Teacher demo: boot the Raspberry Pi</vt:lpstr>
      <vt:lpstr>What is the desktop environment?</vt:lpstr>
      <vt:lpstr>File manager basics</vt:lpstr>
      <vt:lpstr>What is a file?</vt:lpstr>
      <vt:lpstr>What is a folder?</vt:lpstr>
      <vt:lpstr>Why file organisation matters</vt:lpstr>
      <vt:lpstr>Example project folder</vt:lpstr>
      <vt:lpstr>What is the terminal?</vt:lpstr>
      <vt:lpstr>Why use the terminal?</vt:lpstr>
      <vt:lpstr>Terminal is just another interface</vt:lpstr>
      <vt:lpstr>First terminal command: pwd</vt:lpstr>
      <vt:lpstr>Second command: ls</vt:lpstr>
      <vt:lpstr>Third command: cd</vt:lpstr>
      <vt:lpstr>Fourth command: mkdir</vt:lpstr>
      <vt:lpstr>Fifth command: nano or text editor</vt:lpstr>
      <vt:lpstr>Teacher demo: basic terminal flow</vt:lpstr>
      <vt:lpstr>Student task: terminal practice</vt:lpstr>
      <vt:lpstr>Common terminal mistakes</vt:lpstr>
      <vt:lpstr>Why the terminal matters in real life</vt:lpstr>
      <vt:lpstr>Raspberry Pi and Python</vt:lpstr>
      <vt:lpstr>Tiny Python example</vt:lpstr>
      <vt:lpstr>Teacher demo: run a small Python file</vt:lpstr>
      <vt:lpstr>What GPIO means</vt:lpstr>
      <vt:lpstr>Raspberry Pi can also do electronics</vt:lpstr>
      <vt:lpstr>Then why not always use Raspberry Pi instead of Arduino?</vt:lpstr>
      <vt:lpstr>Choosing the right tool</vt:lpstr>
      <vt:lpstr>Raspberry Pi project ideas</vt:lpstr>
      <vt:lpstr>Raspberry Pi in education</vt:lpstr>
      <vt:lpstr>Raspberry Pi in real industries</vt:lpstr>
      <vt:lpstr>Activity: Arduino or Raspberry Pi?</vt:lpstr>
      <vt:lpstr>Activity answers discussion</vt:lpstr>
      <vt:lpstr>Raspberry Pi and the internet</vt:lpstr>
      <vt:lpstr>Raspberry Pi can be a server</vt:lpstr>
      <vt:lpstr>Raspberry Pi and cybersecurity</vt:lpstr>
      <vt:lpstr>Raspberry Pi and robotics</vt:lpstr>
      <vt:lpstr>Raspberry Pi and AI projects</vt:lpstr>
      <vt:lpstr>What we learned today</vt:lpstr>
      <vt:lpstr>Key vocabulary</vt:lpstr>
      <vt:lpstr>Quick recap questions</vt:lpstr>
      <vt:lpstr>Tomorrow’s connection</vt:lpstr>
      <vt:lpstr>BONUS SLIDES — Why small computers matter</vt:lpstr>
      <vt:lpstr>Graphical interface vs terminal</vt:lpstr>
      <vt:lpstr>Example of a project folder structure</vt:lpstr>
      <vt:lpstr>Common student fears</vt:lpstr>
      <vt:lpstr>What makes Raspberry Pi fun?</vt:lpstr>
      <vt:lpstr>End of Day 4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Oscar Yáñez Feijóo</dc:creator>
  <cp:lastModifiedBy>Oscar Yáñez Feijóo</cp:lastModifiedBy>
  <cp:revision>10</cp:revision>
  <dcterms:created xsi:type="dcterms:W3CDTF">2026-04-19T10:36:05Z</dcterms:created>
  <dcterms:modified xsi:type="dcterms:W3CDTF">2026-04-24T19:40:05Z</dcterms:modified>
</cp:coreProperties>
</file>