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DA86-5579-8CD3-82F5-75D4384DB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190ED-3044-5BAA-38A2-027716EC6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A3B9-640C-1DF7-A45F-8CCC2051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A482F-5074-920D-2F24-60C0B762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B4ECE-5A20-2FD6-1125-D4D5225B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6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C0A3-42AF-4A53-6BE5-72DCB174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DB6E-546F-F49D-D5ED-2CE21AA73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85C6-5C31-BFD0-A56B-403C449A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6704-1FED-053B-9588-A705674D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7176-E43C-FBBF-1BB4-6F08CDB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75EF9-3A45-9789-E0C4-C9F415AF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CD4BF-96E5-E022-1B7B-2D25B076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4CDF5-C090-784F-8EAE-A2D94581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A26-55CC-1917-F77A-127CEBAA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CA324-2C3E-3852-08C3-6E869760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1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87EB-A60F-4E19-4BFD-03CB98FE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B40C-8AFC-B813-0132-D7F201589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290C0-ADFA-1787-FD7D-727AAAEE2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D54CD-B48D-AFF3-5F3E-D59AD3DA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4872A-5C3A-4772-E476-F0323C8E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EB51A-F994-FDFC-53EC-DFDE5746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1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6332-03BD-0355-F41D-3C5DC0D78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70505-B277-6109-F281-56199C70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5CB0-1712-DCC6-9230-0E60F68BD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E70AB-67FD-33EA-4E80-7BB45864B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EC7E7-9E62-840B-B342-87125B91F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D659D0-4BC4-37AB-F08C-30D108D5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9DD88-2DFE-4F26-3B10-59ED23E1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59805-82BD-D1A7-48AE-65324637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2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4F57-A642-D506-E30E-61EB8976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F280A-3B28-7AA7-A1CA-FBCE2DDC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CF827-7494-3A0C-FCA2-7135F528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F1A37-5066-0D5E-7F13-335798A0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8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AA5DB-B5A7-BA05-DC95-83F03A83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5BC71-D4FC-962D-2DB8-B4401E79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0607A-F5E4-549B-F70C-5624B463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5375-68F4-0137-D43C-EB707F5C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0755-A8B5-D120-866B-C8A317986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9FB9F-D108-22FC-AF99-F98B7CB1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601F9-DFEF-911F-1022-AA016174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99C9A-3BB6-524A-3C27-4DCBA0C8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02AE0-055E-CC08-CF3D-24A14794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0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250E-162C-CFDD-4648-0E5B577C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638F32-80FE-729B-5C2A-1D9DAEA43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4209E-37B6-7427-535B-F061A6B0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F893D-842F-42C6-C755-C97970A6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BE2C6-6F25-E27B-0AA8-0CB2FD5A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57CD8-68B7-482B-7404-B79CD417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6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70DE-838C-00EF-D061-2D95ED41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0AFDC-6099-6E1A-6261-7AF579B9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E0DE7-F11D-2AEF-F780-682F1744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B71D5-DF36-E1C1-B547-27EB72EF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3AAF5-1862-35C3-C8A8-B090661F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0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2715C-A9DB-F397-F60B-60D240DEA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15E47-EC4B-D276-8FA2-C3C900CB8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790D-2345-9C3E-CCC9-57F97C4D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381D1-6B3F-66FC-53E8-79526751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54E8F-5478-7826-B972-C28210EF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58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2CA3EC-6DB7-AC0E-09C8-CA3F2056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12CB5-F101-712D-5B0D-A04772859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12F9A-F877-723C-AD0C-69F62D53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2F19C-60E0-4F43-B314-CEF354D5BA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4A23B-39EB-2419-586E-7BA3BDBF5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E2D7-D996-2ABE-7548-D88F5C59C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8517E-66B7-466C-90C3-0A65FB88D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3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DD40-CF89-E5D5-F19F-9D37A6810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06A09-A3D8-75FC-7B81-3C1D587B2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856C50F-068D-EBD8-3E15-31501EBD28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6D384-9315-A1DD-14C8-BDF75190C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8A8C-9CFA-C32C-49C6-15EFDE35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2C0D-DA35-33C5-B6DF-F5EA6319B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By the end of this class, you will be able to:</a:t>
            </a:r>
          </a:p>
          <a:p>
            <a:r>
              <a:rPr lang="en-US" dirty="0"/>
              <a:t>open a dataset in Kaggle </a:t>
            </a:r>
          </a:p>
          <a:p>
            <a:r>
              <a:rPr lang="en-US" dirty="0"/>
              <a:t>understand rows and columns </a:t>
            </a:r>
          </a:p>
          <a:p>
            <a:r>
              <a:rPr lang="en-US" dirty="0"/>
              <a:t>use simple Python commands </a:t>
            </a:r>
          </a:p>
          <a:p>
            <a:r>
              <a:rPr lang="en-US" dirty="0"/>
              <a:t>calculate averages </a:t>
            </a:r>
          </a:p>
          <a:p>
            <a:r>
              <a:rPr lang="en-US" dirty="0"/>
              <a:t>filter and sort data </a:t>
            </a:r>
          </a:p>
          <a:p>
            <a:r>
              <a:rPr lang="en-US" dirty="0"/>
              <a:t>create a chart </a:t>
            </a:r>
          </a:p>
          <a:p>
            <a:r>
              <a:rPr lang="en-US" dirty="0"/>
              <a:t>explain your findings in English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The objective is not only to write code. The objective is to explain what the code does in English.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9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6B25-10FB-3A94-D637-D0B2A3FC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35C4D-EB0E-CB13-4BAE-7161D12D8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61" y="1835457"/>
            <a:ext cx="63196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Can Data Tell Us?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Discuss with a partner:</a:t>
            </a:r>
          </a:p>
          <a:p>
            <a:r>
              <a:rPr lang="en-US" dirty="0"/>
              <a:t>What information can we find in exam results? </a:t>
            </a:r>
          </a:p>
          <a:p>
            <a:r>
              <a:rPr lang="en-US" dirty="0"/>
              <a:t>Why do schools collect student data? </a:t>
            </a:r>
          </a:p>
          <a:p>
            <a:r>
              <a:rPr lang="en-US" dirty="0"/>
              <a:t>Can data help students improve?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164BA-A879-D7DB-B4C5-FA8F3DB465AA}"/>
              </a:ext>
            </a:extLst>
          </p:cNvPr>
          <p:cNvSpPr txBox="1">
            <a:spLocks/>
          </p:cNvSpPr>
          <p:nvPr/>
        </p:nvSpPr>
        <p:spPr>
          <a:xfrm>
            <a:off x="6211529" y="1835457"/>
            <a:ext cx="63196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Speaking sentence starters:</a:t>
            </a:r>
            <a:endParaRPr lang="en-US" dirty="0"/>
          </a:p>
          <a:p>
            <a:r>
              <a:rPr lang="en-US" dirty="0"/>
              <a:t>Data can show… </a:t>
            </a:r>
          </a:p>
          <a:p>
            <a:r>
              <a:rPr lang="en-US" dirty="0"/>
              <a:t>Exam results can help us understand… </a:t>
            </a:r>
          </a:p>
          <a:p>
            <a:r>
              <a:rPr lang="en-US" dirty="0"/>
              <a:t>Schools collect data because… </a:t>
            </a:r>
          </a:p>
          <a:p>
            <a:r>
              <a:rPr lang="en-US" b="1" dirty="0"/>
              <a:t>Student task: </a:t>
            </a:r>
            <a:r>
              <a:rPr lang="en-US" dirty="0"/>
              <a:t>Students discuss in pairs for 3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2143-7157-9D50-5223-E5992816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40" y="29998"/>
            <a:ext cx="10515600" cy="1325563"/>
          </a:xfrm>
        </p:spPr>
        <p:txBody>
          <a:bodyPr/>
          <a:lstStyle/>
          <a:p>
            <a:r>
              <a:rPr lang="en-US" dirty="0"/>
              <a:t>Key Vocabulary: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050D-DB32-9285-DDB6-FA8D611A2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0" y="1441346"/>
            <a:ext cx="2662086" cy="802046"/>
          </a:xfrm>
        </p:spPr>
        <p:txBody>
          <a:bodyPr/>
          <a:lstStyle/>
          <a:p>
            <a:r>
              <a:rPr lang="es-ES" dirty="0"/>
              <a:t>data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1E6819-9E3A-E6ED-1369-2BF38B6E2E37}"/>
              </a:ext>
            </a:extLst>
          </p:cNvPr>
          <p:cNvSpPr txBox="1">
            <a:spLocks/>
          </p:cNvSpPr>
          <p:nvPr/>
        </p:nvSpPr>
        <p:spPr>
          <a:xfrm>
            <a:off x="5798573" y="1430028"/>
            <a:ext cx="3158615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information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83328F-6622-251E-4CF5-D611D35612D8}"/>
              </a:ext>
            </a:extLst>
          </p:cNvPr>
          <p:cNvSpPr txBox="1">
            <a:spLocks/>
          </p:cNvSpPr>
          <p:nvPr/>
        </p:nvSpPr>
        <p:spPr>
          <a:xfrm>
            <a:off x="926690" y="2026115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dataset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AB473E-AA73-2552-075A-0F97E466F7B4}"/>
              </a:ext>
            </a:extLst>
          </p:cNvPr>
          <p:cNvSpPr txBox="1">
            <a:spLocks/>
          </p:cNvSpPr>
          <p:nvPr/>
        </p:nvSpPr>
        <p:spPr>
          <a:xfrm>
            <a:off x="5798573" y="2000044"/>
            <a:ext cx="3355260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 </a:t>
            </a:r>
            <a:r>
              <a:rPr lang="es-ES" dirty="0" err="1"/>
              <a:t>collection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data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3C7CCD-E763-7F2E-DF60-867960BD1AD6}"/>
              </a:ext>
            </a:extLst>
          </p:cNvPr>
          <p:cNvSpPr txBox="1">
            <a:spLocks/>
          </p:cNvSpPr>
          <p:nvPr/>
        </p:nvSpPr>
        <p:spPr>
          <a:xfrm>
            <a:off x="926690" y="2695221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table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4A33A0-4BEB-2D30-6A5A-F6D6ED70D768}"/>
              </a:ext>
            </a:extLst>
          </p:cNvPr>
          <p:cNvSpPr txBox="1">
            <a:spLocks/>
          </p:cNvSpPr>
          <p:nvPr/>
        </p:nvSpPr>
        <p:spPr>
          <a:xfrm>
            <a:off x="5765389" y="2636024"/>
            <a:ext cx="5294674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</a:t>
            </a:r>
            <a:r>
              <a:rPr lang="en-US" dirty="0" err="1"/>
              <a:t>organised</a:t>
            </a:r>
            <a:r>
              <a:rPr lang="en-US" dirty="0"/>
              <a:t> in rows and columns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EEB462-8A1B-BBF3-1B64-84FF2CB99B2E}"/>
              </a:ext>
            </a:extLst>
          </p:cNvPr>
          <p:cNvSpPr txBox="1">
            <a:spLocks/>
          </p:cNvSpPr>
          <p:nvPr/>
        </p:nvSpPr>
        <p:spPr>
          <a:xfrm>
            <a:off x="1010261" y="3354496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row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B8266E-48C3-892A-ED70-D2CD5F3890CC}"/>
              </a:ext>
            </a:extLst>
          </p:cNvPr>
          <p:cNvSpPr txBox="1">
            <a:spLocks/>
          </p:cNvSpPr>
          <p:nvPr/>
        </p:nvSpPr>
        <p:spPr>
          <a:xfrm>
            <a:off x="5798573" y="3238652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record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D8BC14-72BC-5F7E-A74E-291A4109E4EA}"/>
              </a:ext>
            </a:extLst>
          </p:cNvPr>
          <p:cNvSpPr txBox="1">
            <a:spLocks/>
          </p:cNvSpPr>
          <p:nvPr/>
        </p:nvSpPr>
        <p:spPr>
          <a:xfrm>
            <a:off x="926690" y="3909035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column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111EC5-40BC-BE03-63AA-7A59F7C495D4}"/>
              </a:ext>
            </a:extLst>
          </p:cNvPr>
          <p:cNvSpPr txBox="1">
            <a:spLocks/>
          </p:cNvSpPr>
          <p:nvPr/>
        </p:nvSpPr>
        <p:spPr>
          <a:xfrm>
            <a:off x="5750639" y="3870580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category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DF2674-F92D-E223-8C17-0256AED53C7D}"/>
              </a:ext>
            </a:extLst>
          </p:cNvPr>
          <p:cNvSpPr txBox="1">
            <a:spLocks/>
          </p:cNvSpPr>
          <p:nvPr/>
        </p:nvSpPr>
        <p:spPr>
          <a:xfrm>
            <a:off x="926690" y="4579589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score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92048B-6554-A0C8-C108-A97C5D9728D1}"/>
              </a:ext>
            </a:extLst>
          </p:cNvPr>
          <p:cNvSpPr txBox="1">
            <a:spLocks/>
          </p:cNvSpPr>
          <p:nvPr/>
        </p:nvSpPr>
        <p:spPr>
          <a:xfrm>
            <a:off x="5750639" y="4473208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Exam</a:t>
            </a:r>
            <a:r>
              <a:rPr lang="es-ES" dirty="0"/>
              <a:t> </a:t>
            </a:r>
            <a:r>
              <a:rPr lang="es-ES" dirty="0" err="1"/>
              <a:t>result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42D858-42F3-E994-C010-11DEDC27FB2D}"/>
              </a:ext>
            </a:extLst>
          </p:cNvPr>
          <p:cNvSpPr txBox="1">
            <a:spLocks/>
          </p:cNvSpPr>
          <p:nvPr/>
        </p:nvSpPr>
        <p:spPr>
          <a:xfrm>
            <a:off x="911940" y="5223053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average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550AB6-ABD2-111D-2286-30611A0657F4}"/>
              </a:ext>
            </a:extLst>
          </p:cNvPr>
          <p:cNvSpPr txBox="1">
            <a:spLocks/>
          </p:cNvSpPr>
          <p:nvPr/>
        </p:nvSpPr>
        <p:spPr>
          <a:xfrm>
            <a:off x="5765389" y="5057285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Typical</a:t>
            </a:r>
            <a:r>
              <a:rPr lang="es-ES" dirty="0"/>
              <a:t> </a:t>
            </a:r>
            <a:r>
              <a:rPr lang="es-ES" dirty="0" err="1"/>
              <a:t>value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260861C-CD56-8592-FE3E-D72B7648826F}"/>
              </a:ext>
            </a:extLst>
          </p:cNvPr>
          <p:cNvSpPr txBox="1">
            <a:spLocks/>
          </p:cNvSpPr>
          <p:nvPr/>
        </p:nvSpPr>
        <p:spPr>
          <a:xfrm>
            <a:off x="926690" y="5775757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finding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244CF1C-47CE-11CD-C27B-0A6B64EB55D7}"/>
              </a:ext>
            </a:extLst>
          </p:cNvPr>
          <p:cNvSpPr txBox="1">
            <a:spLocks/>
          </p:cNvSpPr>
          <p:nvPr/>
        </p:nvSpPr>
        <p:spPr>
          <a:xfrm>
            <a:off x="5750639" y="5659913"/>
            <a:ext cx="3973464" cy="832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Something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discover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CAE6C-78EC-DD1A-CC6A-24BEF811D47D}"/>
              </a:ext>
            </a:extLst>
          </p:cNvPr>
          <p:cNvSpPr txBox="1">
            <a:spLocks/>
          </p:cNvSpPr>
          <p:nvPr/>
        </p:nvSpPr>
        <p:spPr>
          <a:xfrm>
            <a:off x="78658" y="6291841"/>
            <a:ext cx="11710219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These words are very important. You will use them in your spoken report at the end.</a:t>
            </a:r>
          </a:p>
        </p:txBody>
      </p:sp>
    </p:spTree>
    <p:extLst>
      <p:ext uri="{BB962C8B-B14F-4D97-AF65-F5344CB8AC3E}">
        <p14:creationId xmlns:p14="http://schemas.microsoft.com/office/powerpoint/2010/main" val="348678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D7C1-2821-6FDA-8A27-C91A0293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451D1-7483-762B-616A-D8F7F0916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004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Python is a programming language.</a:t>
            </a:r>
          </a:p>
          <a:p>
            <a:r>
              <a:rPr lang="en-US" dirty="0"/>
              <a:t>It is used for:</a:t>
            </a:r>
          </a:p>
          <a:p>
            <a:r>
              <a:rPr lang="en-US" dirty="0"/>
              <a:t>data science </a:t>
            </a:r>
          </a:p>
          <a:p>
            <a:r>
              <a:rPr lang="en-US" dirty="0"/>
              <a:t>artificial intelligence </a:t>
            </a:r>
          </a:p>
          <a:p>
            <a:r>
              <a:rPr lang="en-US" dirty="0"/>
              <a:t>websites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cybersecurity </a:t>
            </a:r>
          </a:p>
          <a:p>
            <a:r>
              <a:rPr lang="en-US" dirty="0"/>
              <a:t>scientific research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BFE91E-65BB-7CF0-4C79-7BEA0409FC98}"/>
              </a:ext>
            </a:extLst>
          </p:cNvPr>
          <p:cNvSpPr txBox="1">
            <a:spLocks/>
          </p:cNvSpPr>
          <p:nvPr/>
        </p:nvSpPr>
        <p:spPr>
          <a:xfrm>
            <a:off x="5685503" y="1825625"/>
            <a:ext cx="55822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br>
              <a:rPr lang="en-US" dirty="0"/>
            </a:br>
            <a:r>
              <a:rPr lang="en-US" dirty="0"/>
              <a:t>Complete the sentence:</a:t>
            </a:r>
          </a:p>
          <a:p>
            <a:r>
              <a:rPr lang="en-US" dirty="0"/>
              <a:t>Python is used for ___.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/>
            </a:br>
            <a:r>
              <a:rPr lang="en-US" dirty="0"/>
              <a:t>Python is one of the most important languages in data science and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2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8279-9BE8-C62F-101B-2E3C91DC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Kaggle?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188C3-D763-08E9-DB95-73CC141F1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6626" cy="4351338"/>
          </a:xfrm>
        </p:spPr>
        <p:txBody>
          <a:bodyPr>
            <a:normAutofit/>
          </a:bodyPr>
          <a:lstStyle/>
          <a:p>
            <a:r>
              <a:rPr lang="en-US" dirty="0"/>
              <a:t>Kaggle is an online platform for:</a:t>
            </a:r>
          </a:p>
          <a:p>
            <a:r>
              <a:rPr lang="en-US" dirty="0"/>
              <a:t>datasets </a:t>
            </a:r>
          </a:p>
          <a:p>
            <a:r>
              <a:rPr lang="en-US" dirty="0"/>
              <a:t>notebooks </a:t>
            </a:r>
          </a:p>
          <a:p>
            <a:r>
              <a:rPr lang="en-US" dirty="0"/>
              <a:t>Python practice </a:t>
            </a:r>
          </a:p>
          <a:p>
            <a:r>
              <a:rPr lang="en-US" dirty="0"/>
              <a:t>data science projects </a:t>
            </a:r>
          </a:p>
          <a:p>
            <a:r>
              <a:rPr lang="en-US" dirty="0"/>
              <a:t>machine learning competitions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835DC3-2995-F4BC-B0A7-AFDF3D289615}"/>
              </a:ext>
            </a:extLst>
          </p:cNvPr>
          <p:cNvSpPr txBox="1">
            <a:spLocks/>
          </p:cNvSpPr>
          <p:nvPr/>
        </p:nvSpPr>
        <p:spPr>
          <a:xfrm>
            <a:off x="6349181" y="2141537"/>
            <a:ext cx="53266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Class instruction:</a:t>
            </a:r>
            <a:br>
              <a:rPr lang="en-US" dirty="0"/>
            </a:br>
            <a:r>
              <a:rPr lang="en-US" dirty="0"/>
              <a:t>Open Kaggle and create/open a notebook.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 dirty="0"/>
            </a:br>
            <a:r>
              <a:rPr lang="en-US" dirty="0"/>
              <a:t>Today Kaggle is our online coding laboratory. We do not need to install Python.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6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BDE7-1F10-59E7-CDBE-C2050000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B4E8-EC7E-9E32-1F3C-F50BE68C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Students Performance in 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6AD9-7DCF-3335-D2E4-0EC2BF41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6626" cy="4351338"/>
          </a:xfrm>
        </p:spPr>
        <p:txBody>
          <a:bodyPr>
            <a:normAutofit/>
          </a:bodyPr>
          <a:lstStyle/>
          <a:p>
            <a:r>
              <a:rPr lang="en-US" dirty="0"/>
              <a:t>We will </a:t>
            </a:r>
            <a:r>
              <a:rPr lang="en-US" dirty="0" err="1"/>
              <a:t>analyse</a:t>
            </a:r>
            <a:r>
              <a:rPr lang="en-US" dirty="0"/>
              <a:t> student exam results.</a:t>
            </a:r>
          </a:p>
          <a:p>
            <a:pPr marL="0" indent="0">
              <a:buNone/>
            </a:pPr>
            <a:r>
              <a:rPr lang="en-US" dirty="0"/>
              <a:t>The dataset includes:</a:t>
            </a:r>
          </a:p>
          <a:p>
            <a:r>
              <a:rPr lang="en-US" dirty="0"/>
              <a:t>student background information </a:t>
            </a:r>
          </a:p>
          <a:p>
            <a:r>
              <a:rPr lang="en-US" dirty="0"/>
              <a:t>test preparation information </a:t>
            </a:r>
          </a:p>
          <a:p>
            <a:r>
              <a:rPr lang="en-US" dirty="0" err="1"/>
              <a:t>maths</a:t>
            </a:r>
            <a:r>
              <a:rPr lang="en-US" dirty="0"/>
              <a:t> score </a:t>
            </a:r>
          </a:p>
          <a:p>
            <a:r>
              <a:rPr lang="en-US" dirty="0"/>
              <a:t>reading score </a:t>
            </a:r>
          </a:p>
          <a:p>
            <a:r>
              <a:rPr lang="en-US" dirty="0"/>
              <a:t>writing score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86C10C-9FFD-DDC7-68D7-E98D495336D2}"/>
              </a:ext>
            </a:extLst>
          </p:cNvPr>
          <p:cNvSpPr txBox="1">
            <a:spLocks/>
          </p:cNvSpPr>
          <p:nvPr/>
        </p:nvSpPr>
        <p:spPr>
          <a:xfrm>
            <a:off x="6349181" y="2141537"/>
            <a:ext cx="53266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br>
              <a:rPr lang="en-US" dirty="0"/>
            </a:br>
            <a:r>
              <a:rPr lang="en-US" dirty="0"/>
              <a:t>Complete:</a:t>
            </a:r>
          </a:p>
          <a:p>
            <a:r>
              <a:rPr lang="en-US" dirty="0"/>
              <a:t>This dataset contains information about ___.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4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F21F-F087-6D50-A186-022E6E19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FB58-9718-3C79-E510-66F62932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Tables: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E8A03-D99C-47A1-6A50-D27AF12FF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66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dataset table has:</a:t>
            </a:r>
          </a:p>
          <a:p>
            <a:r>
              <a:rPr lang="en-US" b="1" dirty="0"/>
              <a:t>rows</a:t>
            </a:r>
            <a:r>
              <a:rPr lang="en-US" dirty="0"/>
              <a:t> = individual records </a:t>
            </a:r>
          </a:p>
          <a:p>
            <a:r>
              <a:rPr lang="en-US" b="1" dirty="0"/>
              <a:t>columns</a:t>
            </a:r>
            <a:r>
              <a:rPr lang="en-US" dirty="0"/>
              <a:t> = types of information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E2D7F-4A13-C2FC-245A-07B12669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3429000"/>
            <a:ext cx="996454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0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9989-E06A-33DB-0DD7-78A847DC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F7C5-30C1-90CB-E8E6-DDD72373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Command: Import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591FE-03E8-C05C-B4FD-A34FD455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6626" cy="4351338"/>
          </a:xfrm>
        </p:spPr>
        <p:txBody>
          <a:bodyPr>
            <a:normAutofit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command loads the pandas library.</a:t>
            </a:r>
          </a:p>
          <a:p>
            <a:r>
              <a:rPr lang="en-US" b="1" dirty="0"/>
              <a:t>English explanation:</a:t>
            </a:r>
            <a:br>
              <a:rPr lang="en-US" dirty="0"/>
            </a:br>
            <a:r>
              <a:rPr lang="en-US" dirty="0"/>
              <a:t>Pandas helps us work with data tables.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Type and run the command in Kaggle.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12C779-7D88-05A4-8A0E-6D3C6D1CFCCF}"/>
              </a:ext>
            </a:extLst>
          </p:cNvPr>
          <p:cNvSpPr txBox="1">
            <a:spLocks/>
          </p:cNvSpPr>
          <p:nvPr/>
        </p:nvSpPr>
        <p:spPr>
          <a:xfrm>
            <a:off x="6349181" y="2141537"/>
            <a:ext cx="53266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br>
              <a:rPr lang="en-US" dirty="0"/>
            </a:br>
            <a:r>
              <a:rPr lang="en-US" dirty="0"/>
              <a:t>Complete:</a:t>
            </a:r>
          </a:p>
          <a:p>
            <a:r>
              <a:rPr lang="en-US" dirty="0"/>
              <a:t>This dataset contains information about ___.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9EE41-1839-3884-8219-3930867AD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181" y="1825625"/>
            <a:ext cx="5251744" cy="205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8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A8EB-C90B-FEB7-0684-EA529C58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FC12C-631B-3AA9-D4CF-AEE59D05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368" y="1363765"/>
            <a:ext cx="12313368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D6FB4A-CB7A-F7B9-2214-16CAC62D88DC}"/>
              </a:ext>
            </a:extLst>
          </p:cNvPr>
          <p:cNvSpPr txBox="1"/>
          <p:nvPr/>
        </p:nvSpPr>
        <p:spPr>
          <a:xfrm>
            <a:off x="1425678" y="2804492"/>
            <a:ext cx="90260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Meaning:</a:t>
            </a:r>
            <a:br>
              <a:rPr lang="en-US" sz="2400" dirty="0"/>
            </a:br>
            <a:r>
              <a:rPr lang="en-US" sz="2400" dirty="0"/>
              <a:t>This command reads the CSV file and stores it in a variable called </a:t>
            </a:r>
            <a:r>
              <a:rPr lang="en-US" sz="2400" dirty="0" err="1">
                <a:latin typeface="Courier New" panose="02070309020205020404" pitchFamily="49" charset="0"/>
              </a:rPr>
              <a:t>df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Vocabulary: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read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CSV file (Comma-Separated values)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store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variable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dataframe</a:t>
            </a:r>
            <a:r>
              <a:rPr lang="en-US" sz="2400" dirty="0"/>
              <a:t> 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dirty="0"/>
              <a:t>A </a:t>
            </a:r>
            <a:r>
              <a:rPr lang="en-US" sz="2400" dirty="0" err="1"/>
              <a:t>DataFrame</a:t>
            </a:r>
            <a:r>
              <a:rPr lang="en-US" sz="2400" dirty="0"/>
              <a:t> is like a table in Python.</a:t>
            </a:r>
          </a:p>
        </p:txBody>
      </p:sp>
    </p:spTree>
    <p:extLst>
      <p:ext uri="{BB962C8B-B14F-4D97-AF65-F5344CB8AC3E}">
        <p14:creationId xmlns:p14="http://schemas.microsoft.com/office/powerpoint/2010/main" val="83523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7C1E-2E19-89E9-5761-1606FEE8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the First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C239-53C4-CB06-AB01-16494BBE8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shows the first five rows of the dataset.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The command head() shows ___.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Run the command and look at the table.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D1B11-6707-AB6F-3359-52E3D851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58" y="230188"/>
            <a:ext cx="543782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3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DECB-A8DB-3E59-DF55-A91F29B9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E2BF-7816-E0D6-0993-6C893159F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Answer with a partner:</a:t>
            </a:r>
          </a:p>
          <a:p>
            <a:r>
              <a:rPr lang="en-US" dirty="0"/>
              <a:t>How many score columns can you see? </a:t>
            </a:r>
          </a:p>
          <a:p>
            <a:r>
              <a:rPr lang="en-US" dirty="0"/>
              <a:t>What subjects are included? </a:t>
            </a:r>
          </a:p>
          <a:p>
            <a:r>
              <a:rPr lang="en-US" dirty="0"/>
              <a:t>What information is not about exam scores? </a:t>
            </a:r>
          </a:p>
          <a:p>
            <a:r>
              <a:rPr lang="en-US" b="1" dirty="0"/>
              <a:t>Useful phrases:</a:t>
            </a:r>
            <a:endParaRPr lang="en-US" dirty="0"/>
          </a:p>
          <a:p>
            <a:r>
              <a:rPr lang="en-US" dirty="0"/>
              <a:t>I can see… </a:t>
            </a:r>
          </a:p>
          <a:p>
            <a:r>
              <a:rPr lang="en-US" dirty="0"/>
              <a:t>The dataset includes… </a:t>
            </a:r>
          </a:p>
          <a:p>
            <a:r>
              <a:rPr lang="en-US" dirty="0"/>
              <a:t>One column is called… 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Students speak in pairs for 4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51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D893-D6CF-88C5-D44C-190028A9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4: Show the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8FD3-9816-F404-B209-484B0AC71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command shows all column names.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The dataset has columns such as ___, ___ and ___.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Run the command and read the column names aloud.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BB2F4-7EED-AC14-3CFE-D2210602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36" y="1447124"/>
            <a:ext cx="5143508" cy="212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58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6413-3855-6F5D-5835-A3B3405B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C98B-39D2-3C04-134F-75F65AF0B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command shows the number of rows and columns.</a:t>
            </a:r>
          </a:p>
          <a:p>
            <a:r>
              <a:rPr lang="en-US" b="1" dirty="0"/>
              <a:t>English structure:</a:t>
            </a:r>
            <a:endParaRPr lang="en-US" dirty="0"/>
          </a:p>
          <a:p>
            <a:r>
              <a:rPr lang="en-US" dirty="0"/>
              <a:t>The dataset has ___ rows and ___ columns.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Run the command and complete the sentence.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F244E-8113-D5FE-CD35-3ECB155B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797" y="207809"/>
            <a:ext cx="4781936" cy="203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23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C02F0-94E3-83FD-52F0-07225959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9C6C-62FC-C827-087C-28E93C0E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40" y="29998"/>
            <a:ext cx="10515600" cy="1325563"/>
          </a:xfrm>
        </p:spPr>
        <p:txBody>
          <a:bodyPr/>
          <a:lstStyle/>
          <a:p>
            <a:r>
              <a:rPr lang="en-US" dirty="0"/>
              <a:t>Understanding the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D557-5034-778C-E76C-EECD66867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0" y="1441346"/>
            <a:ext cx="2662086" cy="802046"/>
          </a:xfrm>
        </p:spPr>
        <p:txBody>
          <a:bodyPr/>
          <a:lstStyle/>
          <a:p>
            <a:r>
              <a:rPr lang="es-ES" dirty="0" err="1"/>
              <a:t>gender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120AB3-D2C0-1EE3-BABC-C33266C9A7E0}"/>
              </a:ext>
            </a:extLst>
          </p:cNvPr>
          <p:cNvSpPr txBox="1">
            <a:spLocks/>
          </p:cNvSpPr>
          <p:nvPr/>
        </p:nvSpPr>
        <p:spPr>
          <a:xfrm>
            <a:off x="5798573" y="1430028"/>
            <a:ext cx="3158615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student gender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433BAA-4244-52E1-2D41-E6AE575314FD}"/>
              </a:ext>
            </a:extLst>
          </p:cNvPr>
          <p:cNvSpPr txBox="1">
            <a:spLocks/>
          </p:cNvSpPr>
          <p:nvPr/>
        </p:nvSpPr>
        <p:spPr>
          <a:xfrm>
            <a:off x="926689" y="2026115"/>
            <a:ext cx="4136923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parental level of education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3F2B0D-E564-602C-6AA3-C55DA0F29D34}"/>
              </a:ext>
            </a:extLst>
          </p:cNvPr>
          <p:cNvSpPr txBox="1">
            <a:spLocks/>
          </p:cNvSpPr>
          <p:nvPr/>
        </p:nvSpPr>
        <p:spPr>
          <a:xfrm>
            <a:off x="5798572" y="2000044"/>
            <a:ext cx="4033685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parents’ education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BD27B3-D477-7BDA-6A20-08E002E33AA2}"/>
              </a:ext>
            </a:extLst>
          </p:cNvPr>
          <p:cNvSpPr txBox="1">
            <a:spLocks/>
          </p:cNvSpPr>
          <p:nvPr/>
        </p:nvSpPr>
        <p:spPr>
          <a:xfrm>
            <a:off x="926690" y="2695221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lunch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7CA857-56C5-2F78-81D2-C692B11B0B5C}"/>
              </a:ext>
            </a:extLst>
          </p:cNvPr>
          <p:cNvSpPr txBox="1">
            <a:spLocks/>
          </p:cNvSpPr>
          <p:nvPr/>
        </p:nvSpPr>
        <p:spPr>
          <a:xfrm>
            <a:off x="5765389" y="2636024"/>
            <a:ext cx="5294674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lunch category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0D9EA3-11FC-D80D-F3B9-9E9F44008D55}"/>
              </a:ext>
            </a:extLst>
          </p:cNvPr>
          <p:cNvSpPr txBox="1">
            <a:spLocks/>
          </p:cNvSpPr>
          <p:nvPr/>
        </p:nvSpPr>
        <p:spPr>
          <a:xfrm>
            <a:off x="1010261" y="3354496"/>
            <a:ext cx="3660062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 preparation course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924AD0-73E7-CA0D-6984-4BAF49A38C68}"/>
              </a:ext>
            </a:extLst>
          </p:cNvPr>
          <p:cNvSpPr txBox="1">
            <a:spLocks/>
          </p:cNvSpPr>
          <p:nvPr/>
        </p:nvSpPr>
        <p:spPr>
          <a:xfrm>
            <a:off x="5798573" y="3238652"/>
            <a:ext cx="3748550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completed or none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081E08-A210-0AAA-3ACD-60F3FE17339C}"/>
              </a:ext>
            </a:extLst>
          </p:cNvPr>
          <p:cNvSpPr txBox="1">
            <a:spLocks/>
          </p:cNvSpPr>
          <p:nvPr/>
        </p:nvSpPr>
        <p:spPr>
          <a:xfrm>
            <a:off x="926690" y="3909035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math score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A9753D-599B-CC5D-D1DA-3B065B4B44C7}"/>
              </a:ext>
            </a:extLst>
          </p:cNvPr>
          <p:cNvSpPr txBox="1">
            <a:spLocks/>
          </p:cNvSpPr>
          <p:nvPr/>
        </p:nvSpPr>
        <p:spPr>
          <a:xfrm>
            <a:off x="5750639" y="3870580"/>
            <a:ext cx="3422858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maths</a:t>
            </a:r>
            <a:r>
              <a:rPr lang="en-US" dirty="0"/>
              <a:t> exam result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A30C9E-F330-DA9B-B336-1609A4362735}"/>
              </a:ext>
            </a:extLst>
          </p:cNvPr>
          <p:cNvSpPr txBox="1">
            <a:spLocks/>
          </p:cNvSpPr>
          <p:nvPr/>
        </p:nvSpPr>
        <p:spPr>
          <a:xfrm>
            <a:off x="926690" y="4579589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reading score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9581CF-C5DE-1F6E-878D-4B59D07D4663}"/>
              </a:ext>
            </a:extLst>
          </p:cNvPr>
          <p:cNvSpPr txBox="1">
            <a:spLocks/>
          </p:cNvSpPr>
          <p:nvPr/>
        </p:nvSpPr>
        <p:spPr>
          <a:xfrm>
            <a:off x="5750638" y="4473208"/>
            <a:ext cx="3206549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reading exam result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8D5F9C2-5081-2038-66EE-5DC6BCD7CC0D}"/>
              </a:ext>
            </a:extLst>
          </p:cNvPr>
          <p:cNvSpPr txBox="1">
            <a:spLocks/>
          </p:cNvSpPr>
          <p:nvPr/>
        </p:nvSpPr>
        <p:spPr>
          <a:xfrm>
            <a:off x="911940" y="5223053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writing score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76206D3-FD2F-5192-DED6-3B418A6FA19E}"/>
              </a:ext>
            </a:extLst>
          </p:cNvPr>
          <p:cNvSpPr txBox="1">
            <a:spLocks/>
          </p:cNvSpPr>
          <p:nvPr/>
        </p:nvSpPr>
        <p:spPr>
          <a:xfrm>
            <a:off x="5765389" y="5057285"/>
            <a:ext cx="2357286" cy="718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writing exam result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4141763-FCAD-F03D-74EE-D5157B46FC4C}"/>
              </a:ext>
            </a:extLst>
          </p:cNvPr>
          <p:cNvSpPr txBox="1">
            <a:spLocks/>
          </p:cNvSpPr>
          <p:nvPr/>
        </p:nvSpPr>
        <p:spPr>
          <a:xfrm>
            <a:off x="796413" y="6282568"/>
            <a:ext cx="11710219" cy="71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Some columns are categories. Some columns are numerical scores.</a:t>
            </a:r>
          </a:p>
        </p:txBody>
      </p:sp>
    </p:spTree>
    <p:extLst>
      <p:ext uri="{BB962C8B-B14F-4D97-AF65-F5344CB8AC3E}">
        <p14:creationId xmlns:p14="http://schemas.microsoft.com/office/powerpoint/2010/main" val="4071674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1BD0-A21A-D152-6475-6A9AEC93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Numerical vs Categorical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96C2-286E-2DB4-0C68-565E28EDE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612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Numerical data:</a:t>
            </a:r>
            <a:r>
              <a:rPr lang="en-US" dirty="0"/>
              <a:t> numbers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/>
              <a:t>math score </a:t>
            </a:r>
          </a:p>
          <a:p>
            <a:r>
              <a:rPr lang="en-US" dirty="0"/>
              <a:t>reading score </a:t>
            </a:r>
          </a:p>
          <a:p>
            <a:r>
              <a:rPr lang="en-US" dirty="0"/>
              <a:t>writing score </a:t>
            </a:r>
          </a:p>
          <a:p>
            <a:pPr marL="0" indent="0">
              <a:buNone/>
            </a:pPr>
            <a:r>
              <a:rPr lang="en-US" b="1" dirty="0"/>
              <a:t>Categorical data:</a:t>
            </a:r>
            <a:r>
              <a:rPr lang="en-US" dirty="0"/>
              <a:t> groups or labels</a:t>
            </a:r>
            <a:br>
              <a:rPr lang="en-US" dirty="0"/>
            </a:br>
            <a:r>
              <a:rPr lang="en-US" dirty="0"/>
              <a:t>Examples:</a:t>
            </a:r>
          </a:p>
          <a:p>
            <a:r>
              <a:rPr lang="en-US" dirty="0"/>
              <a:t>gender </a:t>
            </a:r>
          </a:p>
          <a:p>
            <a:r>
              <a:rPr lang="en-US" dirty="0"/>
              <a:t>lunch </a:t>
            </a:r>
          </a:p>
          <a:p>
            <a:r>
              <a:rPr lang="en-US" dirty="0"/>
              <a:t>test preparation course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08442D-374D-5085-6BEC-F21A7664985C}"/>
              </a:ext>
            </a:extLst>
          </p:cNvPr>
          <p:cNvSpPr txBox="1">
            <a:spLocks/>
          </p:cNvSpPr>
          <p:nvPr/>
        </p:nvSpPr>
        <p:spPr>
          <a:xfrm>
            <a:off x="6194323" y="1825625"/>
            <a:ext cx="53561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Math score is numerical data.</a:t>
            </a:r>
            <a:br>
              <a:rPr lang="en-US" dirty="0"/>
            </a:br>
            <a:r>
              <a:rPr lang="en-US" dirty="0"/>
              <a:t>Test preparation course is categorical data.</a:t>
            </a:r>
          </a:p>
        </p:txBody>
      </p:sp>
    </p:spTree>
    <p:extLst>
      <p:ext uri="{BB962C8B-B14F-4D97-AF65-F5344CB8AC3E}">
        <p14:creationId xmlns:p14="http://schemas.microsoft.com/office/powerpoint/2010/main" val="331797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4209-25BD-5F04-EF0D-BE2BDA4D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6: Describe the Data.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10ED-E9EC-F7BA-47C9-AA7D6FB87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Meaning: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This gives a statistical summary of the numerical columns.</a:t>
            </a:r>
          </a:p>
          <a:p>
            <a:pPr marL="0" indent="0">
              <a:buNone/>
            </a:pPr>
            <a:r>
              <a:rPr lang="en-US" b="1" dirty="0"/>
              <a:t>Vocabulary:</a:t>
            </a:r>
            <a:endParaRPr lang="en-US" dirty="0"/>
          </a:p>
          <a:p>
            <a:r>
              <a:rPr lang="en-US" dirty="0"/>
              <a:t>count </a:t>
            </a:r>
          </a:p>
          <a:p>
            <a:r>
              <a:rPr lang="en-US" dirty="0"/>
              <a:t>mean </a:t>
            </a:r>
          </a:p>
          <a:p>
            <a:r>
              <a:rPr lang="en-US" dirty="0"/>
              <a:t>standard deviation </a:t>
            </a:r>
          </a:p>
          <a:p>
            <a:r>
              <a:rPr lang="en-US" dirty="0"/>
              <a:t>minimum </a:t>
            </a:r>
          </a:p>
          <a:p>
            <a:r>
              <a:rPr lang="en-US" dirty="0"/>
              <a:t>maximum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you say:</a:t>
            </a:r>
            <a:br>
              <a:rPr lang="en-US" dirty="0"/>
            </a:br>
            <a:r>
              <a:rPr lang="en-US" dirty="0"/>
              <a:t>Do not worry about understanding everything. Focus on mean, min and max.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C3F6C-A866-A794-8EF3-1CC7EC70B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092" y="1387212"/>
            <a:ext cx="3847168" cy="182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89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0613-6B74-FE51-1115-05CE783A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About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B132-AFB2-0463-9845-77B30F79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these sentences:</a:t>
            </a:r>
          </a:p>
          <a:p>
            <a:r>
              <a:rPr lang="en-US" dirty="0"/>
              <a:t>The average </a:t>
            </a:r>
            <a:r>
              <a:rPr lang="en-US" dirty="0" err="1"/>
              <a:t>maths</a:t>
            </a:r>
            <a:r>
              <a:rPr lang="en-US" dirty="0"/>
              <a:t> score is ___.</a:t>
            </a:r>
            <a:br>
              <a:rPr lang="en-US" dirty="0"/>
            </a:br>
            <a:r>
              <a:rPr lang="en-US" dirty="0"/>
              <a:t>The minimum reading score is ___.</a:t>
            </a:r>
            <a:br>
              <a:rPr lang="en-US" dirty="0"/>
            </a:br>
            <a:r>
              <a:rPr lang="en-US" dirty="0"/>
              <a:t>The maximum writing score is ___.</a:t>
            </a:r>
            <a:br>
              <a:rPr lang="en-US" dirty="0"/>
            </a:br>
            <a:r>
              <a:rPr lang="en-US" dirty="0"/>
              <a:t>The average means ___.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Students complete the sentences using their Kaggle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E0AD-A88A-8D0B-7ECA-5BA1FFFE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7: Select a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E5BB-6E89-D59E-6754-268DEDF81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selects only the </a:t>
            </a:r>
            <a:r>
              <a:rPr lang="en-US" dirty="0" err="1"/>
              <a:t>maths</a:t>
            </a:r>
            <a:r>
              <a:rPr lang="en-US" dirty="0"/>
              <a:t> score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E38A3-7E1B-0202-B26B-1D15BFE3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858" y="1519794"/>
            <a:ext cx="4850142" cy="221646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F908CD-BDE7-66B1-D720-C5896C93418D}"/>
              </a:ext>
            </a:extLst>
          </p:cNvPr>
          <p:cNvSpPr txBox="1">
            <a:spLocks/>
          </p:cNvSpPr>
          <p:nvPr/>
        </p:nvSpPr>
        <p:spPr>
          <a:xfrm>
            <a:off x="4493342" y="3942735"/>
            <a:ext cx="6860458" cy="1760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This command selects the ___ column.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AEB070-D58F-1FAC-80C7-FA49DD4CA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2537"/>
            <a:ext cx="3565015" cy="200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86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3F73-4446-BA61-7C0A-5152A346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8: Calculate the Average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966A-D1A4-95CA-FAE3-CD3746EE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The mean() function calculates the average.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The average ___ score is ___.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DF8DA-EF2B-D653-E52E-3B4DB213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550" y="1825625"/>
            <a:ext cx="4040179" cy="414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77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B052-4D3D-088B-5656-21560FD7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9: Compare Subject Averages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F01F-5572-FA9F-C97B-4D4664141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calculates the average for the three subjects.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The highest average score is in ___.</a:t>
            </a:r>
            <a:br>
              <a:rPr lang="en-US" dirty="0"/>
            </a:br>
            <a:r>
              <a:rPr lang="en-US" dirty="0"/>
              <a:t>The lowest average score is in ___.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F926F-5268-88B6-0A63-A2A11D3F6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52" y="4513248"/>
            <a:ext cx="8973974" cy="16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2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31BA-CB81-BD75-5772-6016CC59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616"/>
            <a:ext cx="10515600" cy="1325563"/>
          </a:xfrm>
        </p:spPr>
        <p:txBody>
          <a:bodyPr/>
          <a:lstStyle/>
          <a:p>
            <a:r>
              <a:rPr lang="en-US" dirty="0"/>
              <a:t>Command 10: Create a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68863-B157-00DE-FCA6-3DD02D481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3244645"/>
            <a:ext cx="7197212" cy="324823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creates a bar chart comparing the average scores.</a:t>
            </a:r>
          </a:p>
          <a:p>
            <a:r>
              <a:rPr lang="en-US" b="1" dirty="0"/>
              <a:t>Vocabulary:</a:t>
            </a:r>
            <a:endParaRPr lang="en-US" dirty="0"/>
          </a:p>
          <a:p>
            <a:r>
              <a:rPr lang="en-US" dirty="0"/>
              <a:t>chart </a:t>
            </a:r>
          </a:p>
          <a:p>
            <a:r>
              <a:rPr lang="en-US" dirty="0"/>
              <a:t>bar chart </a:t>
            </a:r>
          </a:p>
          <a:p>
            <a:r>
              <a:rPr lang="en-US" dirty="0"/>
              <a:t>compare </a:t>
            </a:r>
          </a:p>
          <a:p>
            <a:r>
              <a:rPr lang="en-US" dirty="0"/>
              <a:t>higher </a:t>
            </a:r>
          </a:p>
          <a:p>
            <a:r>
              <a:rPr lang="en-US" dirty="0"/>
              <a:t>lower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F6CF3-2EA6-6191-3CF0-4D49C7F9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65" y="1284726"/>
            <a:ext cx="12207465" cy="158444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E80C44-9FF9-4C7D-407E-1B28C63D8C72}"/>
              </a:ext>
            </a:extLst>
          </p:cNvPr>
          <p:cNvSpPr txBox="1">
            <a:spLocks/>
          </p:cNvSpPr>
          <p:nvPr/>
        </p:nvSpPr>
        <p:spPr>
          <a:xfrm>
            <a:off x="7600335" y="3399503"/>
            <a:ext cx="4345858" cy="2754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The chart shows ___.</a:t>
            </a:r>
            <a:br>
              <a:rPr lang="en-US" dirty="0"/>
            </a:br>
            <a:r>
              <a:rPr lang="en-US" dirty="0"/>
              <a:t>The highest bar is ___.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20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4375-13BE-EB12-341E-104D9BFF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94" y="205031"/>
            <a:ext cx="10515600" cy="1009651"/>
          </a:xfrm>
        </p:spPr>
        <p:txBody>
          <a:bodyPr/>
          <a:lstStyle/>
          <a:p>
            <a:r>
              <a:rPr lang="en-US" dirty="0"/>
              <a:t>Command 11: Sort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CC62-C226-2F41-831C-8645AFAD6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645" y="3282500"/>
            <a:ext cx="6197620" cy="1053526"/>
          </a:xfrm>
        </p:spPr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shows the top five </a:t>
            </a:r>
            <a:r>
              <a:rPr lang="en-US" dirty="0" err="1"/>
              <a:t>maths</a:t>
            </a:r>
            <a:r>
              <a:rPr lang="en-US" dirty="0"/>
              <a:t> scores.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8C0F6-71F3-6D17-927C-608CA2F16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45" y="1085634"/>
            <a:ext cx="11136710" cy="2085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340B9-33EB-EF91-B0E7-1154C16F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8" y="4336026"/>
            <a:ext cx="9327854" cy="2085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4C7C6-3A76-053B-01E0-55C88FEB0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581" y="3248569"/>
            <a:ext cx="5010849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24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48BB-12E4-DEF0-0DBA-88FE6AEB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Top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EC3C5-9B53-6185-DFBC-5B4B0AA9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Complete:</a:t>
            </a:r>
          </a:p>
          <a:p>
            <a:r>
              <a:rPr lang="en-US" dirty="0"/>
              <a:t>The top </a:t>
            </a:r>
            <a:r>
              <a:rPr lang="en-US" dirty="0" err="1"/>
              <a:t>maths</a:t>
            </a:r>
            <a:r>
              <a:rPr lang="en-US" dirty="0"/>
              <a:t> score is ___.</a:t>
            </a:r>
            <a:br>
              <a:rPr lang="en-US" dirty="0"/>
            </a:br>
            <a:r>
              <a:rPr lang="en-US" dirty="0"/>
              <a:t>The top reading score is ___.</a:t>
            </a:r>
            <a:br>
              <a:rPr lang="en-US" dirty="0"/>
            </a:br>
            <a:r>
              <a:rPr lang="en-US" dirty="0"/>
              <a:t>The top writing score is ___.</a:t>
            </a:r>
            <a:br>
              <a:rPr lang="en-US" dirty="0"/>
            </a:br>
            <a:r>
              <a:rPr lang="en-US" dirty="0"/>
              <a:t>Sorting helps us find ___.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Students compare answers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2204053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35A0-77D7-756B-3C79-A86DF811E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12: Filter High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F6A7-6886-35A0-94E1-637E5287C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shows only students with a </a:t>
            </a:r>
            <a:r>
              <a:rPr lang="en-US" dirty="0" err="1"/>
              <a:t>maths</a:t>
            </a:r>
            <a:r>
              <a:rPr lang="en-US" dirty="0"/>
              <a:t> score of 80 or more.</a:t>
            </a:r>
          </a:p>
          <a:p>
            <a:r>
              <a:rPr lang="en-US" b="1" dirty="0"/>
              <a:t>Vocabulary:</a:t>
            </a:r>
            <a:endParaRPr lang="en-US" dirty="0"/>
          </a:p>
          <a:p>
            <a:r>
              <a:rPr lang="en-US" dirty="0"/>
              <a:t>filter </a:t>
            </a:r>
          </a:p>
          <a:p>
            <a:r>
              <a:rPr lang="en-US" dirty="0"/>
              <a:t>condition </a:t>
            </a:r>
          </a:p>
          <a:p>
            <a:r>
              <a:rPr lang="en-US" dirty="0"/>
              <a:t>greater than </a:t>
            </a:r>
          </a:p>
          <a:p>
            <a:r>
              <a:rPr lang="en-US" dirty="0"/>
              <a:t>equal to </a:t>
            </a:r>
          </a:p>
          <a:p>
            <a:r>
              <a:rPr lang="en-US" dirty="0"/>
              <a:t>at least 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This filter shows students with ___.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C9C87-C255-A414-9778-C23E500C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211" y="1364009"/>
            <a:ext cx="7255871" cy="235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81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ABCA-5500-19E4-4538-AAE28105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74"/>
            <a:ext cx="10515600" cy="1051591"/>
          </a:xfrm>
        </p:spPr>
        <p:txBody>
          <a:bodyPr/>
          <a:lstStyle/>
          <a:p>
            <a:r>
              <a:rPr lang="en-US" dirty="0"/>
              <a:t>Command 13: Count High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166A-193A-430D-725D-F4743EC1B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95" y="1242165"/>
            <a:ext cx="5093040" cy="1756674"/>
          </a:xfrm>
        </p:spPr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counts how many students scored 80 or more in </a:t>
            </a:r>
            <a:r>
              <a:rPr lang="en-US" dirty="0" err="1"/>
              <a:t>maths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1206C-C5B6-636A-1DBC-E27DFB058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495" y="996359"/>
            <a:ext cx="6560505" cy="2186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5F4A1-0613-E054-3EEE-DC0C5E14B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64" y="3508304"/>
            <a:ext cx="6746050" cy="30498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8F3690-3C35-6021-0330-D0C47F896B50}"/>
              </a:ext>
            </a:extLst>
          </p:cNvPr>
          <p:cNvSpPr txBox="1">
            <a:spLocks/>
          </p:cNvSpPr>
          <p:nvPr/>
        </p:nvSpPr>
        <p:spPr>
          <a:xfrm>
            <a:off x="6994314" y="3739363"/>
            <a:ext cx="5093040" cy="1756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Speaking practice: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There are ___ students with high </a:t>
            </a:r>
            <a:r>
              <a:rPr lang="en-US" dirty="0" err="1"/>
              <a:t>maths</a:t>
            </a:r>
            <a:r>
              <a:rPr lang="en-US" dirty="0"/>
              <a:t> scores.</a:t>
            </a:r>
          </a:p>
        </p:txBody>
      </p:sp>
    </p:spTree>
    <p:extLst>
      <p:ext uri="{BB962C8B-B14F-4D97-AF65-F5344CB8AC3E}">
        <p14:creationId xmlns:p14="http://schemas.microsoft.com/office/powerpoint/2010/main" val="1036292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6552-305A-C4BE-59D0-278B7A8B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14: Create Average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80BC-2233-0552-603C-7A1E84A83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8877"/>
            <a:ext cx="10515600" cy="2008086"/>
          </a:xfrm>
        </p:spPr>
        <p:txBody>
          <a:bodyPr/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creates a new column with each student’s average score.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We created a new column called ___.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5D944-9516-8067-1EDD-332C126CA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76" y="1298377"/>
            <a:ext cx="8418924" cy="27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30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F461-400A-35F4-26F8-D597D8E8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905"/>
            <a:ext cx="10515600" cy="916680"/>
          </a:xfrm>
        </p:spPr>
        <p:txBody>
          <a:bodyPr/>
          <a:lstStyle/>
          <a:p>
            <a:r>
              <a:rPr lang="en-US" dirty="0"/>
              <a:t>Command 15: Create Pass/Fail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FD0C-4448-9D62-1417-08EAEA12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439" y="3684886"/>
            <a:ext cx="8008374" cy="322728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creates a True or False result.</a:t>
            </a:r>
          </a:p>
          <a:p>
            <a:r>
              <a:rPr lang="en-US" b="1" dirty="0"/>
              <a:t>English explanation:</a:t>
            </a:r>
            <a:endParaRPr lang="en-US" dirty="0"/>
          </a:p>
          <a:p>
            <a:r>
              <a:rPr lang="en-US" dirty="0"/>
              <a:t>True means the student passed.</a:t>
            </a:r>
            <a:br>
              <a:rPr lang="en-US" dirty="0"/>
            </a:br>
            <a:r>
              <a:rPr lang="en-US" dirty="0"/>
              <a:t>False means the student did not pass.</a:t>
            </a:r>
          </a:p>
          <a:p>
            <a:r>
              <a:rPr lang="en-US" b="1" dirty="0"/>
              <a:t>Speaking practice:</a:t>
            </a:r>
            <a:endParaRPr lang="en-US" dirty="0"/>
          </a:p>
          <a:p>
            <a:r>
              <a:rPr lang="en-US" dirty="0"/>
              <a:t>A student passes if the average score is ___ or more.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6ACC6-57B7-D1E8-EF90-7DED36B88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23" y="1065140"/>
            <a:ext cx="6944203" cy="261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28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71F3-F318-6134-8030-BAFC7750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16: Group by Test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1C39-9742-5312-AB9A-B12C4004B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355"/>
            <a:ext cx="9692148" cy="333544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This compares average scores for students who completed or did not complete the preparation course.</a:t>
            </a:r>
          </a:p>
          <a:p>
            <a:r>
              <a:rPr lang="en-US" b="1" dirty="0"/>
              <a:t>Vocabulary:</a:t>
            </a:r>
            <a:endParaRPr lang="en-US" dirty="0"/>
          </a:p>
          <a:p>
            <a:r>
              <a:rPr lang="en-US" dirty="0"/>
              <a:t>group </a:t>
            </a:r>
          </a:p>
          <a:p>
            <a:r>
              <a:rPr lang="en-US" dirty="0"/>
              <a:t>category </a:t>
            </a:r>
          </a:p>
          <a:p>
            <a:r>
              <a:rPr lang="en-US" dirty="0"/>
              <a:t>completed </a:t>
            </a:r>
          </a:p>
          <a:p>
            <a:r>
              <a:rPr lang="en-US" dirty="0"/>
              <a:t>none </a:t>
            </a:r>
          </a:p>
          <a:p>
            <a:r>
              <a:rPr lang="en-US" dirty="0"/>
              <a:t>compare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670B2-D137-1300-F188-96CD669F5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28" y="1376517"/>
            <a:ext cx="10125019" cy="11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15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00A5-1F51-2383-3A61-75841AB1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Preparation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19592-251F-076F-96E0-B347FC80E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Discuss:</a:t>
            </a:r>
          </a:p>
          <a:p>
            <a:r>
              <a:rPr lang="en-US" dirty="0"/>
              <a:t>Do students who completed preparation have higher scores? </a:t>
            </a:r>
          </a:p>
          <a:p>
            <a:r>
              <a:rPr lang="en-US" dirty="0"/>
              <a:t>In which subject is the difference biggest? </a:t>
            </a:r>
          </a:p>
          <a:p>
            <a:r>
              <a:rPr lang="en-US" dirty="0"/>
              <a:t>Is the result surprising? </a:t>
            </a:r>
          </a:p>
          <a:p>
            <a:r>
              <a:rPr lang="en-US" b="1" dirty="0"/>
              <a:t>Useful phrases:</a:t>
            </a:r>
            <a:endParaRPr lang="en-US" dirty="0"/>
          </a:p>
          <a:p>
            <a:r>
              <a:rPr lang="en-US" dirty="0"/>
              <a:t>Students who completed preparation… </a:t>
            </a:r>
          </a:p>
          <a:p>
            <a:r>
              <a:rPr lang="en-US" dirty="0"/>
              <a:t>The difference is bigger in… </a:t>
            </a:r>
          </a:p>
          <a:p>
            <a:r>
              <a:rPr lang="en-US" dirty="0"/>
              <a:t>I think this is surprising because… 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Pair discussion, then 2–3 students share answers.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73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230D-27FA-A236-364F-8237C4F7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867" y="581436"/>
            <a:ext cx="5582265" cy="87374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Detective Mission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D62A-6942-DFBD-F290-B84DD075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5890" y="1805961"/>
            <a:ext cx="756838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Work in pairs. Answer these questions using Python:</a:t>
            </a:r>
          </a:p>
          <a:p>
            <a:r>
              <a:rPr lang="en-US" dirty="0"/>
              <a:t>What is the average </a:t>
            </a:r>
            <a:r>
              <a:rPr lang="en-US" dirty="0" err="1"/>
              <a:t>maths</a:t>
            </a:r>
            <a:r>
              <a:rPr lang="en-US" dirty="0"/>
              <a:t> score? </a:t>
            </a:r>
          </a:p>
          <a:p>
            <a:r>
              <a:rPr lang="en-US" dirty="0"/>
              <a:t>What is the average reading score? </a:t>
            </a:r>
          </a:p>
          <a:p>
            <a:r>
              <a:rPr lang="en-US" dirty="0"/>
              <a:t>What is the average writing score? </a:t>
            </a:r>
          </a:p>
          <a:p>
            <a:r>
              <a:rPr lang="en-US" dirty="0"/>
              <a:t>Which subject has the highest average? </a:t>
            </a:r>
          </a:p>
          <a:p>
            <a:r>
              <a:rPr lang="en-US" dirty="0"/>
              <a:t>How many students scored 80 or more in </a:t>
            </a:r>
            <a:r>
              <a:rPr lang="en-US" dirty="0" err="1"/>
              <a:t>maths</a:t>
            </a:r>
            <a:r>
              <a:rPr lang="en-US" dirty="0"/>
              <a:t>? </a:t>
            </a:r>
          </a:p>
          <a:p>
            <a:r>
              <a:rPr lang="en-US" dirty="0"/>
              <a:t>Did test preparation help? </a:t>
            </a:r>
          </a:p>
          <a:p>
            <a:r>
              <a:rPr lang="en-US" dirty="0"/>
              <a:t>Create one chart. </a:t>
            </a:r>
          </a:p>
          <a:p>
            <a:pPr marL="0" indent="0">
              <a:buNone/>
            </a:pPr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Write your answers in English.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28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E87B-08C0-BCA6-9FAA-2F8731F9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Present a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D4108-DCB3-82C3-4895-4513DD1D5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these sentence frames:</a:t>
            </a:r>
          </a:p>
          <a:p>
            <a:r>
              <a:rPr lang="en-US" dirty="0"/>
              <a:t>We found that ___.</a:t>
            </a:r>
            <a:br>
              <a:rPr lang="en-US" dirty="0"/>
            </a:br>
            <a:r>
              <a:rPr lang="en-US" dirty="0"/>
              <a:t>The data shows that ___.</a:t>
            </a:r>
            <a:br>
              <a:rPr lang="en-US" dirty="0"/>
            </a:br>
            <a:r>
              <a:rPr lang="en-US" dirty="0"/>
              <a:t>The average score is ___.</a:t>
            </a:r>
            <a:br>
              <a:rPr lang="en-US" dirty="0"/>
            </a:br>
            <a:r>
              <a:rPr lang="en-US" dirty="0"/>
              <a:t>The highest average is in ___.</a:t>
            </a:r>
            <a:br>
              <a:rPr lang="en-US" dirty="0"/>
            </a:br>
            <a:r>
              <a:rPr lang="en-US" dirty="0"/>
              <a:t>Our chart shows ___.</a:t>
            </a:r>
            <a:br>
              <a:rPr lang="en-US" dirty="0"/>
            </a:br>
            <a:r>
              <a:rPr lang="en-US" dirty="0"/>
              <a:t>This is interesting because ___.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Students prepare 3 findings.</a:t>
            </a:r>
          </a:p>
        </p:txBody>
      </p:sp>
    </p:spTree>
    <p:extLst>
      <p:ext uri="{BB962C8B-B14F-4D97-AF65-F5344CB8AC3E}">
        <p14:creationId xmlns:p14="http://schemas.microsoft.com/office/powerpoint/2010/main" val="1666525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AF52-C7A7-2680-A7CA-1829878E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Spoken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0EBF6-5D88-D16C-3302-942C76701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Hello, we are Group ___.</a:t>
            </a:r>
            <a:br>
              <a:rPr lang="en-US" dirty="0"/>
            </a:br>
            <a:r>
              <a:rPr lang="en-US" dirty="0"/>
              <a:t>We </a:t>
            </a:r>
            <a:r>
              <a:rPr lang="en-US" dirty="0" err="1"/>
              <a:t>analysed</a:t>
            </a:r>
            <a:r>
              <a:rPr lang="en-US" dirty="0"/>
              <a:t> the Students Performance dataset.</a:t>
            </a:r>
            <a:br>
              <a:rPr lang="en-US" dirty="0"/>
            </a:br>
            <a:r>
              <a:rPr lang="en-US" dirty="0"/>
              <a:t>The average </a:t>
            </a:r>
            <a:r>
              <a:rPr lang="en-US" dirty="0" err="1"/>
              <a:t>maths</a:t>
            </a:r>
            <a:r>
              <a:rPr lang="en-US" dirty="0"/>
              <a:t> score is ___.</a:t>
            </a:r>
            <a:br>
              <a:rPr lang="en-US" dirty="0"/>
            </a:br>
            <a:r>
              <a:rPr lang="en-US" dirty="0"/>
              <a:t>The average reading score is ___.</a:t>
            </a:r>
            <a:br>
              <a:rPr lang="en-US" dirty="0"/>
            </a:br>
            <a:r>
              <a:rPr lang="en-US" dirty="0"/>
              <a:t>The average writing score is ___.</a:t>
            </a:r>
            <a:br>
              <a:rPr lang="en-US" dirty="0"/>
            </a:br>
            <a:r>
              <a:rPr lang="en-US" dirty="0"/>
              <a:t>Our most interesting finding is ___.</a:t>
            </a:r>
            <a:br>
              <a:rPr lang="en-US" dirty="0"/>
            </a:br>
            <a:r>
              <a:rPr lang="en-US" dirty="0"/>
              <a:t>Our chart shows ___.</a:t>
            </a:r>
            <a:br>
              <a:rPr lang="en-US" dirty="0"/>
            </a:br>
            <a:r>
              <a:rPr lang="en-US" dirty="0"/>
              <a:t>Thank you for listening.</a:t>
            </a:r>
          </a:p>
          <a:p>
            <a:r>
              <a:rPr lang="en-US" b="1" dirty="0"/>
              <a:t>Student task:</a:t>
            </a:r>
            <a:br>
              <a:rPr lang="en-US" dirty="0"/>
            </a:br>
            <a:r>
              <a:rPr lang="en-US" dirty="0"/>
              <a:t>Prepare a 1–2 minute group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32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CEF15-1222-A333-1B4F-3867D566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Your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81AFA-8681-9490-0C1E-AFA3BB081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another group presents, listen for:</a:t>
            </a:r>
          </a:p>
          <a:p>
            <a:r>
              <a:rPr lang="en-US" dirty="0"/>
              <a:t>one average </a:t>
            </a:r>
          </a:p>
          <a:p>
            <a:r>
              <a:rPr lang="en-US" dirty="0"/>
              <a:t>one comparison </a:t>
            </a:r>
          </a:p>
          <a:p>
            <a:r>
              <a:rPr lang="en-US" dirty="0"/>
              <a:t>one chart explanation </a:t>
            </a:r>
          </a:p>
          <a:p>
            <a:r>
              <a:rPr lang="en-US" dirty="0"/>
              <a:t>one interesting finding </a:t>
            </a:r>
          </a:p>
          <a:p>
            <a:r>
              <a:rPr lang="en-US" b="1" dirty="0"/>
              <a:t>Audience sentence:</a:t>
            </a:r>
            <a:endParaRPr lang="en-US" dirty="0"/>
          </a:p>
          <a:p>
            <a:r>
              <a:rPr lang="en-US" dirty="0"/>
              <a:t>I liked your finding about ___.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The audience must listen actively and give one positive comment.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025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06A1-7E20-88EE-2383-58A98F66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You Learn Today?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E6259-5A53-6F7F-F204-F08663674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three sentences:</a:t>
            </a:r>
          </a:p>
          <a:p>
            <a:r>
              <a:rPr lang="en-US" dirty="0"/>
              <a:t>Today I learned how to ___. </a:t>
            </a:r>
          </a:p>
          <a:p>
            <a:r>
              <a:rPr lang="en-US" dirty="0"/>
              <a:t>One new English word I learned is ___. </a:t>
            </a:r>
          </a:p>
          <a:p>
            <a:r>
              <a:rPr lang="en-US" dirty="0"/>
              <a:t>One Python command I can explain is ___. </a:t>
            </a:r>
          </a:p>
          <a:p>
            <a:r>
              <a:rPr lang="en-US" b="1" dirty="0"/>
              <a:t>Speaking task:</a:t>
            </a:r>
            <a:br>
              <a:rPr lang="en-US" dirty="0"/>
            </a:br>
            <a:r>
              <a:rPr lang="en-US" dirty="0"/>
              <a:t>Students share with a partner.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674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6BFD-A56D-C6A4-E774-A04CCAEC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311F-DDCF-6FD7-C6E6-2529E400C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Before leaving, answer:</a:t>
            </a:r>
          </a:p>
          <a:p>
            <a:r>
              <a:rPr lang="en-US" dirty="0"/>
              <a:t>What does </a:t>
            </a:r>
            <a:r>
              <a:rPr lang="en-US" dirty="0" err="1"/>
              <a:t>df.head</a:t>
            </a:r>
            <a:r>
              <a:rPr lang="en-US" dirty="0"/>
              <a:t>() do? </a:t>
            </a:r>
          </a:p>
          <a:p>
            <a:r>
              <a:rPr lang="en-US" dirty="0"/>
              <a:t>What does mean() calculate? </a:t>
            </a:r>
          </a:p>
          <a:p>
            <a:r>
              <a:rPr lang="en-US" dirty="0"/>
              <a:t>What does filtering do? </a:t>
            </a:r>
          </a:p>
          <a:p>
            <a:r>
              <a:rPr lang="en-US" dirty="0"/>
              <a:t>Say one sentence about the dataset in English. </a:t>
            </a:r>
          </a:p>
          <a:p>
            <a:r>
              <a:rPr lang="en-US" b="1" dirty="0"/>
              <a:t>Final sentence:</a:t>
            </a:r>
            <a:br>
              <a:rPr lang="en-US" dirty="0"/>
            </a:br>
            <a:r>
              <a:rPr lang="en-US" dirty="0"/>
              <a:t>You are now a Student Data Detective.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This exit ticket checks both technical understanding and English speaking.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42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1591</Words>
  <Application>Microsoft Office PowerPoint</Application>
  <PresentationFormat>Widescreen</PresentationFormat>
  <Paragraphs>271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Office Theme</vt:lpstr>
      <vt:lpstr>PowerPoint Presentation</vt:lpstr>
      <vt:lpstr>Today’s Mission</vt:lpstr>
      <vt:lpstr>Warm-Up Question</vt:lpstr>
      <vt:lpstr>Key Vocabulary: Data</vt:lpstr>
      <vt:lpstr>What Is Python?</vt:lpstr>
      <vt:lpstr>What Is Kaggle?</vt:lpstr>
      <vt:lpstr>Dataset: Students Performance in Exams</vt:lpstr>
      <vt:lpstr>Data Tables: Rows and Columns</vt:lpstr>
      <vt:lpstr>First Command: Import pandas</vt:lpstr>
      <vt:lpstr>Load the Dataset</vt:lpstr>
      <vt:lpstr>Show the First Rows</vt:lpstr>
      <vt:lpstr>Look at the Dataset</vt:lpstr>
      <vt:lpstr>Command 4: Show the Columns</vt:lpstr>
      <vt:lpstr>Dataset Size</vt:lpstr>
      <vt:lpstr>Understanding the Columns</vt:lpstr>
      <vt:lpstr>Numerical vs Categorical Data </vt:lpstr>
      <vt:lpstr>Command 6: Describe the Data. Stats</vt:lpstr>
      <vt:lpstr>Speaking About Statistics</vt:lpstr>
      <vt:lpstr>Command 7: Select a Column</vt:lpstr>
      <vt:lpstr>Command 8: Calculate the Average </vt:lpstr>
      <vt:lpstr>Command 9: Compare Subject Averages</vt:lpstr>
      <vt:lpstr>Command 10: Create a Chart</vt:lpstr>
      <vt:lpstr>Command 11: Sort Scores</vt:lpstr>
      <vt:lpstr>Explain the Top Scores</vt:lpstr>
      <vt:lpstr>Command 12: Filter High Scores</vt:lpstr>
      <vt:lpstr>Command 13: Count High Scores</vt:lpstr>
      <vt:lpstr>Command 14: Create Average Score</vt:lpstr>
      <vt:lpstr>Command 15: Create Pass/Fail Result</vt:lpstr>
      <vt:lpstr>Command 16: Group by Test Preparation</vt:lpstr>
      <vt:lpstr>Does Preparation Help?</vt:lpstr>
      <vt:lpstr>Data Detective Mission </vt:lpstr>
      <vt:lpstr>How to Present a Finding</vt:lpstr>
      <vt:lpstr>Final Spoken Report</vt:lpstr>
      <vt:lpstr>Present Your Findings</vt:lpstr>
      <vt:lpstr>What Did You Learn Today? </vt:lpstr>
      <vt:lpstr>Exit Ticket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Yáñez Feijóo</dc:creator>
  <cp:lastModifiedBy>Oscar Yáñez Feijóo</cp:lastModifiedBy>
  <cp:revision>17</cp:revision>
  <dcterms:created xsi:type="dcterms:W3CDTF">2026-05-03T15:55:01Z</dcterms:created>
  <dcterms:modified xsi:type="dcterms:W3CDTF">2026-05-03T17:20:34Z</dcterms:modified>
</cp:coreProperties>
</file>